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257" r:id="rId3"/>
    <p:sldId id="258" r:id="rId4"/>
    <p:sldId id="259" r:id="rId5"/>
    <p:sldId id="266" r:id="rId6"/>
    <p:sldId id="260" r:id="rId7"/>
    <p:sldId id="268" r:id="rId8"/>
    <p:sldId id="270" r:id="rId9"/>
    <p:sldId id="274" r:id="rId10"/>
    <p:sldId id="261" r:id="rId11"/>
    <p:sldId id="272" r:id="rId12"/>
    <p:sldId id="271" r:id="rId13"/>
    <p:sldId id="273" r:id="rId14"/>
    <p:sldId id="267"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chibald Okotah" initials="AO" lastIdx="9" clrIdx="0"/>
  <p:cmAuthor id="1" name="840 G3" initials="8G" lastIdx="1" clrIdx="1">
    <p:extLst>
      <p:ext uri="{19B8F6BF-5375-455C-9EA6-DF929625EA0E}">
        <p15:presenceInfo xmlns:p15="http://schemas.microsoft.com/office/powerpoint/2012/main" userId="840 G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510"/>
    <a:srgbClr val="000B22"/>
    <a:srgbClr val="000C2A"/>
    <a:srgbClr val="0007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4" autoAdjust="0"/>
    <p:restoredTop sz="94660"/>
  </p:normalViewPr>
  <p:slideViewPr>
    <p:cSldViewPr snapToGrid="0">
      <p:cViewPr varScale="1">
        <p:scale>
          <a:sx n="64" d="100"/>
          <a:sy n="64" d="100"/>
        </p:scale>
        <p:origin x="960" y="60"/>
      </p:cViewPr>
      <p:guideLst>
        <p:guide orient="horz" pos="2160"/>
        <p:guide pos="3840"/>
      </p:guideLst>
    </p:cSldViewPr>
  </p:slideViewPr>
  <p:notesTextViewPr>
    <p:cViewPr>
      <p:scale>
        <a:sx n="1" d="1"/>
        <a:sy n="1" d="1"/>
      </p:scale>
      <p:origin x="0" y="0"/>
    </p:cViewPr>
  </p:notesTextViewPr>
  <p:notesViewPr>
    <p:cSldViewPr snapToGrid="0">
      <p:cViewPr varScale="1">
        <p:scale>
          <a:sx n="51" d="100"/>
          <a:sy n="51" d="100"/>
        </p:scale>
        <p:origin x="2624" y="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4F94DA-DA2C-48AC-ACF9-2ADA5211FC57}"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B209FF07-5E60-4680-BA51-CC9C7CEB682B}">
      <dgm:prSet phldrT="[Text]" custT="1"/>
      <dgm:spPr>
        <a:solidFill>
          <a:schemeClr val="accent2">
            <a:lumMod val="75000"/>
          </a:schemeClr>
        </a:solidFill>
      </dgm:spPr>
      <dgm:t>
        <a:bodyPr/>
        <a:lstStyle/>
        <a:p>
          <a:r>
            <a:rPr lang="en-US" sz="3200" dirty="0">
              <a:solidFill>
                <a:srgbClr val="000510"/>
              </a:solidFill>
              <a:latin typeface="Times New Roman" pitchFamily="18" charset="0"/>
              <a:cs typeface="Times New Roman" pitchFamily="18" charset="0"/>
            </a:rPr>
            <a:t>PROCESS MEASURES</a:t>
          </a:r>
        </a:p>
      </dgm:t>
    </dgm:pt>
    <dgm:pt modelId="{9F82CA7B-F304-405C-BE8D-477680FBEE42}" type="parTrans" cxnId="{02082A11-DF52-40CD-B9C1-3EED5B2425AF}">
      <dgm:prSet/>
      <dgm:spPr/>
      <dgm:t>
        <a:bodyPr/>
        <a:lstStyle/>
        <a:p>
          <a:endParaRPr lang="en-US"/>
        </a:p>
      </dgm:t>
    </dgm:pt>
    <dgm:pt modelId="{8A37E6B5-97E6-4565-AE7A-3807B2F2565E}" type="sibTrans" cxnId="{02082A11-DF52-40CD-B9C1-3EED5B2425AF}">
      <dgm:prSet/>
      <dgm:spPr/>
      <dgm:t>
        <a:bodyPr/>
        <a:lstStyle/>
        <a:p>
          <a:endParaRPr lang="en-US"/>
        </a:p>
      </dgm:t>
    </dgm:pt>
    <dgm:pt modelId="{F9A9D4B0-16DC-444F-91D4-FC1485FCE51A}">
      <dgm:prSet phldrT="[Text]"/>
      <dgm:spPr>
        <a:solidFill>
          <a:schemeClr val="accent2">
            <a:lumMod val="40000"/>
            <a:lumOff val="60000"/>
            <a:alpha val="90000"/>
          </a:schemeClr>
        </a:solidFill>
      </dgm:spPr>
      <dgm:t>
        <a:bodyPr/>
        <a:lstStyle/>
        <a:p>
          <a:pPr>
            <a:lnSpc>
              <a:spcPct val="200000"/>
            </a:lnSpc>
          </a:pPr>
          <a:r>
            <a:rPr lang="en-US" b="1" dirty="0">
              <a:solidFill>
                <a:srgbClr val="000510"/>
              </a:solidFill>
              <a:latin typeface="Times New Roman" pitchFamily="18" charset="0"/>
              <a:cs typeface="Times New Roman" pitchFamily="18" charset="0"/>
            </a:rPr>
            <a:t>Hybrid Error Detection</a:t>
          </a:r>
          <a:endParaRPr lang="en-US" dirty="0">
            <a:solidFill>
              <a:srgbClr val="000510"/>
            </a:solidFill>
            <a:latin typeface="Times New Roman" pitchFamily="18" charset="0"/>
            <a:cs typeface="Times New Roman" pitchFamily="18" charset="0"/>
          </a:endParaRPr>
        </a:p>
      </dgm:t>
    </dgm:pt>
    <dgm:pt modelId="{3E9A1887-4F29-4B00-A7A5-0675E44A8618}" type="parTrans" cxnId="{E89FEC3D-68CB-439E-A568-1FC45D38304D}">
      <dgm:prSet/>
      <dgm:spPr/>
      <dgm:t>
        <a:bodyPr/>
        <a:lstStyle/>
        <a:p>
          <a:endParaRPr lang="en-US"/>
        </a:p>
      </dgm:t>
    </dgm:pt>
    <dgm:pt modelId="{52158DA5-A0BE-49A2-BE44-4612DFE612EC}" type="sibTrans" cxnId="{E89FEC3D-68CB-439E-A568-1FC45D38304D}">
      <dgm:prSet/>
      <dgm:spPr/>
      <dgm:t>
        <a:bodyPr/>
        <a:lstStyle/>
        <a:p>
          <a:endParaRPr lang="en-US"/>
        </a:p>
      </dgm:t>
    </dgm:pt>
    <dgm:pt modelId="{FEF6C86F-75F8-412C-865A-247639830BF0}">
      <dgm:prSet phldrT="[Text]" custT="1"/>
      <dgm:spPr>
        <a:solidFill>
          <a:schemeClr val="accent2">
            <a:lumMod val="75000"/>
          </a:schemeClr>
        </a:solidFill>
      </dgm:spPr>
      <dgm:t>
        <a:bodyPr/>
        <a:lstStyle/>
        <a:p>
          <a:r>
            <a:rPr lang="en-US" sz="3200" dirty="0">
              <a:solidFill>
                <a:srgbClr val="000510"/>
              </a:solidFill>
              <a:latin typeface="Times New Roman" pitchFamily="18" charset="0"/>
              <a:cs typeface="Times New Roman" pitchFamily="18" charset="0"/>
            </a:rPr>
            <a:t>SYSTEMS MEASURES</a:t>
          </a:r>
        </a:p>
      </dgm:t>
    </dgm:pt>
    <dgm:pt modelId="{E97CFDE3-4982-45B9-BAD0-88E1F66858C5}" type="parTrans" cxnId="{0391D268-2958-486D-972C-95B93EF84CA8}">
      <dgm:prSet/>
      <dgm:spPr/>
      <dgm:t>
        <a:bodyPr/>
        <a:lstStyle/>
        <a:p>
          <a:endParaRPr lang="en-US"/>
        </a:p>
      </dgm:t>
    </dgm:pt>
    <dgm:pt modelId="{8497E58A-D4ED-47E2-B90D-47E5B27A1AF1}" type="sibTrans" cxnId="{0391D268-2958-486D-972C-95B93EF84CA8}">
      <dgm:prSet/>
      <dgm:spPr/>
      <dgm:t>
        <a:bodyPr/>
        <a:lstStyle/>
        <a:p>
          <a:endParaRPr lang="en-US"/>
        </a:p>
      </dgm:t>
    </dgm:pt>
    <dgm:pt modelId="{7EF79FDB-E8CF-4D37-BACE-56E8166B2A1C}">
      <dgm:prSet phldrT="[Text]"/>
      <dgm:spPr>
        <a:solidFill>
          <a:schemeClr val="accent2">
            <a:lumMod val="40000"/>
            <a:lumOff val="60000"/>
            <a:alpha val="90000"/>
          </a:schemeClr>
        </a:solidFill>
      </dgm:spPr>
      <dgm:t>
        <a:bodyPr/>
        <a:lstStyle/>
        <a:p>
          <a:pPr>
            <a:lnSpc>
              <a:spcPct val="150000"/>
            </a:lnSpc>
          </a:pPr>
          <a:r>
            <a:rPr lang="en-US" b="1" dirty="0">
              <a:solidFill>
                <a:srgbClr val="000B22"/>
              </a:solidFill>
              <a:latin typeface="Times New Roman" pitchFamily="18" charset="0"/>
              <a:cs typeface="Times New Roman" pitchFamily="18" charset="0"/>
            </a:rPr>
            <a:t>Service Delivery: Workloads and Staffing Shortages</a:t>
          </a:r>
          <a:endParaRPr lang="en-US" dirty="0">
            <a:solidFill>
              <a:srgbClr val="000B22"/>
            </a:solidFill>
            <a:latin typeface="Times New Roman" pitchFamily="18" charset="0"/>
            <a:cs typeface="Times New Roman" pitchFamily="18" charset="0"/>
          </a:endParaRPr>
        </a:p>
      </dgm:t>
    </dgm:pt>
    <dgm:pt modelId="{93FFFE96-45BB-4F46-8FF4-51FBE7CA7709}" type="parTrans" cxnId="{457BC191-7D51-45A6-A10F-F8781656B946}">
      <dgm:prSet/>
      <dgm:spPr/>
      <dgm:t>
        <a:bodyPr/>
        <a:lstStyle/>
        <a:p>
          <a:endParaRPr lang="en-US"/>
        </a:p>
      </dgm:t>
    </dgm:pt>
    <dgm:pt modelId="{2ED1A6A0-1E92-4267-9D6A-B3BB406A7C5A}" type="sibTrans" cxnId="{457BC191-7D51-45A6-A10F-F8781656B946}">
      <dgm:prSet/>
      <dgm:spPr/>
      <dgm:t>
        <a:bodyPr/>
        <a:lstStyle/>
        <a:p>
          <a:endParaRPr lang="en-US"/>
        </a:p>
      </dgm:t>
    </dgm:pt>
    <dgm:pt modelId="{001D53F4-A170-4F90-B328-79BA7EA7247B}">
      <dgm:prSet phldrT="[Text]"/>
      <dgm:spPr>
        <a:solidFill>
          <a:schemeClr val="accent2">
            <a:lumMod val="40000"/>
            <a:lumOff val="60000"/>
            <a:alpha val="90000"/>
          </a:schemeClr>
        </a:solidFill>
      </dgm:spPr>
      <dgm:t>
        <a:bodyPr/>
        <a:lstStyle/>
        <a:p>
          <a:pPr>
            <a:lnSpc>
              <a:spcPct val="200000"/>
            </a:lnSpc>
          </a:pPr>
          <a:r>
            <a:rPr lang="en-US" b="1" dirty="0">
              <a:solidFill>
                <a:srgbClr val="000510"/>
              </a:solidFill>
              <a:latin typeface="Times New Roman" pitchFamily="18" charset="0"/>
              <a:cs typeface="Times New Roman" pitchFamily="18" charset="0"/>
            </a:rPr>
            <a:t>Underreporting Culture</a:t>
          </a:r>
          <a:endParaRPr lang="en-US" dirty="0">
            <a:solidFill>
              <a:srgbClr val="000510"/>
            </a:solidFill>
            <a:latin typeface="Times New Roman" pitchFamily="18" charset="0"/>
            <a:cs typeface="Times New Roman" pitchFamily="18" charset="0"/>
          </a:endParaRPr>
        </a:p>
      </dgm:t>
    </dgm:pt>
    <dgm:pt modelId="{50E47F60-E01F-4CD9-93D2-B37A93BB404A}" type="parTrans" cxnId="{CA56EC4E-E321-4027-BA2A-4487FD9FE0D4}">
      <dgm:prSet/>
      <dgm:spPr/>
      <dgm:t>
        <a:bodyPr/>
        <a:lstStyle/>
        <a:p>
          <a:endParaRPr lang="en-US"/>
        </a:p>
      </dgm:t>
    </dgm:pt>
    <dgm:pt modelId="{A8B9B42B-EB91-48C1-87AE-7FF0C1D16C60}" type="sibTrans" cxnId="{CA56EC4E-E321-4027-BA2A-4487FD9FE0D4}">
      <dgm:prSet/>
      <dgm:spPr/>
      <dgm:t>
        <a:bodyPr/>
        <a:lstStyle/>
        <a:p>
          <a:endParaRPr lang="en-US"/>
        </a:p>
      </dgm:t>
    </dgm:pt>
    <dgm:pt modelId="{DD5DA4AC-0948-4FFF-A489-A5E1DB2CE940}">
      <dgm:prSet phldrT="[Text]"/>
      <dgm:spPr>
        <a:solidFill>
          <a:schemeClr val="accent2">
            <a:lumMod val="40000"/>
            <a:lumOff val="60000"/>
            <a:alpha val="90000"/>
          </a:schemeClr>
        </a:solidFill>
      </dgm:spPr>
      <dgm:t>
        <a:bodyPr/>
        <a:lstStyle/>
        <a:p>
          <a:pPr>
            <a:lnSpc>
              <a:spcPct val="150000"/>
            </a:lnSpc>
          </a:pPr>
          <a:r>
            <a:rPr lang="en-US" b="1" i="1" dirty="0">
              <a:solidFill>
                <a:srgbClr val="000B22"/>
              </a:solidFill>
              <a:latin typeface="Times New Roman" pitchFamily="18" charset="0"/>
              <a:cs typeface="Times New Roman" pitchFamily="18" charset="0"/>
            </a:rPr>
            <a:t>Health Information Systems: Hybrid Digital-Manual workflows</a:t>
          </a:r>
          <a:endParaRPr lang="en-US" dirty="0">
            <a:solidFill>
              <a:srgbClr val="000B22"/>
            </a:solidFill>
            <a:latin typeface="Times New Roman" pitchFamily="18" charset="0"/>
            <a:cs typeface="Times New Roman" pitchFamily="18" charset="0"/>
          </a:endParaRPr>
        </a:p>
      </dgm:t>
    </dgm:pt>
    <dgm:pt modelId="{0642409F-47D1-4D92-B7A2-7A65276B36D3}" type="parTrans" cxnId="{1BBB9C96-E990-47CD-9D4F-B6C030276B17}">
      <dgm:prSet/>
      <dgm:spPr/>
      <dgm:t>
        <a:bodyPr/>
        <a:lstStyle/>
        <a:p>
          <a:endParaRPr lang="en-US"/>
        </a:p>
      </dgm:t>
    </dgm:pt>
    <dgm:pt modelId="{7CAFE832-B67C-4253-A88D-E8BCF5B3C36E}" type="sibTrans" cxnId="{1BBB9C96-E990-47CD-9D4F-B6C030276B17}">
      <dgm:prSet/>
      <dgm:spPr/>
      <dgm:t>
        <a:bodyPr/>
        <a:lstStyle/>
        <a:p>
          <a:endParaRPr lang="en-US"/>
        </a:p>
      </dgm:t>
    </dgm:pt>
    <dgm:pt modelId="{FA5FA140-CE26-43CD-819C-C2E35DB3A4D4}">
      <dgm:prSet phldrT="[Text]"/>
      <dgm:spPr>
        <a:solidFill>
          <a:schemeClr val="accent2">
            <a:lumMod val="40000"/>
            <a:lumOff val="60000"/>
            <a:alpha val="90000"/>
          </a:schemeClr>
        </a:solidFill>
      </dgm:spPr>
      <dgm:t>
        <a:bodyPr/>
        <a:lstStyle/>
        <a:p>
          <a:pPr>
            <a:lnSpc>
              <a:spcPct val="150000"/>
            </a:lnSpc>
            <a:buFont typeface="Arial" panose="020B0604020202020204" pitchFamily="34" charset="0"/>
            <a:buChar char="•"/>
          </a:pPr>
          <a:r>
            <a:rPr lang="en-US" b="1" i="1" dirty="0">
              <a:solidFill>
                <a:srgbClr val="000B22"/>
              </a:solidFill>
              <a:latin typeface="Times New Roman" pitchFamily="18" charset="0"/>
              <a:cs typeface="Times New Roman" pitchFamily="18" charset="0"/>
            </a:rPr>
            <a:t>Leadership: Punitive Cultures</a:t>
          </a:r>
          <a:endParaRPr lang="en-US" dirty="0">
            <a:solidFill>
              <a:srgbClr val="000B22"/>
            </a:solidFill>
            <a:latin typeface="Times New Roman" pitchFamily="18" charset="0"/>
            <a:cs typeface="Times New Roman" pitchFamily="18" charset="0"/>
          </a:endParaRPr>
        </a:p>
      </dgm:t>
    </dgm:pt>
    <dgm:pt modelId="{FC31DEF7-E6B7-4F79-83A0-11A8823962C1}" type="parTrans" cxnId="{9974B2AB-6682-4CD6-A285-1F8340042B2D}">
      <dgm:prSet/>
      <dgm:spPr/>
      <dgm:t>
        <a:bodyPr/>
        <a:lstStyle/>
        <a:p>
          <a:endParaRPr lang="en-US"/>
        </a:p>
      </dgm:t>
    </dgm:pt>
    <dgm:pt modelId="{B3A6C47D-589F-4EF4-8833-51128C3BB743}" type="sibTrans" cxnId="{9974B2AB-6682-4CD6-A285-1F8340042B2D}">
      <dgm:prSet/>
      <dgm:spPr/>
      <dgm:t>
        <a:bodyPr/>
        <a:lstStyle/>
        <a:p>
          <a:endParaRPr lang="en-US"/>
        </a:p>
      </dgm:t>
    </dgm:pt>
    <dgm:pt modelId="{539BFFBD-7CD1-4720-BF56-FC1385EAD44B}">
      <dgm:prSet phldrT="[Text]"/>
      <dgm:spPr>
        <a:solidFill>
          <a:schemeClr val="accent2">
            <a:lumMod val="40000"/>
            <a:lumOff val="60000"/>
            <a:alpha val="90000"/>
          </a:schemeClr>
        </a:solidFill>
      </dgm:spPr>
      <dgm:t>
        <a:bodyPr/>
        <a:lstStyle/>
        <a:p>
          <a:pPr>
            <a:lnSpc>
              <a:spcPct val="150000"/>
            </a:lnSpc>
          </a:pPr>
          <a:r>
            <a:rPr lang="en-US" b="1" dirty="0">
              <a:solidFill>
                <a:srgbClr val="000B22"/>
              </a:solidFill>
              <a:latin typeface="Times New Roman" pitchFamily="18" charset="0"/>
              <a:cs typeface="Times New Roman" pitchFamily="18" charset="0"/>
            </a:rPr>
            <a:t>Health Commodities: look-alike drugs and poor labeling</a:t>
          </a:r>
          <a:endParaRPr lang="en-US" dirty="0">
            <a:solidFill>
              <a:srgbClr val="000B22"/>
            </a:solidFill>
            <a:latin typeface="Times New Roman" pitchFamily="18" charset="0"/>
            <a:cs typeface="Times New Roman" pitchFamily="18" charset="0"/>
          </a:endParaRPr>
        </a:p>
      </dgm:t>
    </dgm:pt>
    <dgm:pt modelId="{6935A1E5-D8B7-4B63-BAD0-E6D792BF11BD}" type="sibTrans" cxnId="{5249F6B2-424C-4E67-B2C6-B37E350886E7}">
      <dgm:prSet/>
      <dgm:spPr/>
      <dgm:t>
        <a:bodyPr/>
        <a:lstStyle/>
        <a:p>
          <a:endParaRPr lang="en-US"/>
        </a:p>
      </dgm:t>
    </dgm:pt>
    <dgm:pt modelId="{951DF874-0787-419B-9D62-B50531D98493}" type="parTrans" cxnId="{5249F6B2-424C-4E67-B2C6-B37E350886E7}">
      <dgm:prSet/>
      <dgm:spPr/>
      <dgm:t>
        <a:bodyPr/>
        <a:lstStyle/>
        <a:p>
          <a:endParaRPr lang="en-US"/>
        </a:p>
      </dgm:t>
    </dgm:pt>
    <dgm:pt modelId="{E1825BEF-B467-4E56-9671-921FD57C02FF}" type="pres">
      <dgm:prSet presAssocID="{284F94DA-DA2C-48AC-ACF9-2ADA5211FC57}" presName="Name0" presStyleCnt="0">
        <dgm:presLayoutVars>
          <dgm:dir/>
          <dgm:animLvl val="lvl"/>
          <dgm:resizeHandles/>
        </dgm:presLayoutVars>
      </dgm:prSet>
      <dgm:spPr/>
    </dgm:pt>
    <dgm:pt modelId="{6F032C41-9A4D-46EF-90E6-D32CF5070F1B}" type="pres">
      <dgm:prSet presAssocID="{B209FF07-5E60-4680-BA51-CC9C7CEB682B}" presName="linNode" presStyleCnt="0"/>
      <dgm:spPr/>
    </dgm:pt>
    <dgm:pt modelId="{297B79FC-2851-4E20-8665-AAFD91A2919D}" type="pres">
      <dgm:prSet presAssocID="{B209FF07-5E60-4680-BA51-CC9C7CEB682B}" presName="parentShp" presStyleLbl="node1" presStyleIdx="0" presStyleCnt="2">
        <dgm:presLayoutVars>
          <dgm:bulletEnabled val="1"/>
        </dgm:presLayoutVars>
      </dgm:prSet>
      <dgm:spPr/>
    </dgm:pt>
    <dgm:pt modelId="{06F6F5B4-BF7A-4E4A-B915-A4ACAF0902B2}" type="pres">
      <dgm:prSet presAssocID="{B209FF07-5E60-4680-BA51-CC9C7CEB682B}" presName="childShp" presStyleLbl="bgAccFollowNode1" presStyleIdx="0" presStyleCnt="2">
        <dgm:presLayoutVars>
          <dgm:bulletEnabled val="1"/>
        </dgm:presLayoutVars>
      </dgm:prSet>
      <dgm:spPr/>
    </dgm:pt>
    <dgm:pt modelId="{57534D41-F23D-495B-9C1D-57BA3BB92524}" type="pres">
      <dgm:prSet presAssocID="{8A37E6B5-97E6-4565-AE7A-3807B2F2565E}" presName="spacing" presStyleCnt="0"/>
      <dgm:spPr/>
    </dgm:pt>
    <dgm:pt modelId="{83A87099-5502-4AB9-AEC6-E4E9FEF7723C}" type="pres">
      <dgm:prSet presAssocID="{FEF6C86F-75F8-412C-865A-247639830BF0}" presName="linNode" presStyleCnt="0"/>
      <dgm:spPr/>
    </dgm:pt>
    <dgm:pt modelId="{EA35948A-E10B-4AD5-8632-F0740D068E47}" type="pres">
      <dgm:prSet presAssocID="{FEF6C86F-75F8-412C-865A-247639830BF0}" presName="parentShp" presStyleLbl="node1" presStyleIdx="1" presStyleCnt="2">
        <dgm:presLayoutVars>
          <dgm:bulletEnabled val="1"/>
        </dgm:presLayoutVars>
      </dgm:prSet>
      <dgm:spPr/>
    </dgm:pt>
    <dgm:pt modelId="{038CD986-4E04-406E-8AE3-704141171775}" type="pres">
      <dgm:prSet presAssocID="{FEF6C86F-75F8-412C-865A-247639830BF0}" presName="childShp" presStyleLbl="bgAccFollowNode1" presStyleIdx="1" presStyleCnt="2" custScaleY="202243">
        <dgm:presLayoutVars>
          <dgm:bulletEnabled val="1"/>
        </dgm:presLayoutVars>
      </dgm:prSet>
      <dgm:spPr/>
    </dgm:pt>
  </dgm:ptLst>
  <dgm:cxnLst>
    <dgm:cxn modelId="{EB79D40D-344B-49C9-B5B2-2FCBB119F66D}" type="presOf" srcId="{F9A9D4B0-16DC-444F-91D4-FC1485FCE51A}" destId="{06F6F5B4-BF7A-4E4A-B915-A4ACAF0902B2}" srcOrd="0" destOrd="0" presId="urn:microsoft.com/office/officeart/2005/8/layout/vList6"/>
    <dgm:cxn modelId="{02082A11-DF52-40CD-B9C1-3EED5B2425AF}" srcId="{284F94DA-DA2C-48AC-ACF9-2ADA5211FC57}" destId="{B209FF07-5E60-4680-BA51-CC9C7CEB682B}" srcOrd="0" destOrd="0" parTransId="{9F82CA7B-F304-405C-BE8D-477680FBEE42}" sibTransId="{8A37E6B5-97E6-4565-AE7A-3807B2F2565E}"/>
    <dgm:cxn modelId="{52022026-DEB1-45EF-A652-DEB69415CB69}" type="presOf" srcId="{B209FF07-5E60-4680-BA51-CC9C7CEB682B}" destId="{297B79FC-2851-4E20-8665-AAFD91A2919D}" srcOrd="0" destOrd="0" presId="urn:microsoft.com/office/officeart/2005/8/layout/vList6"/>
    <dgm:cxn modelId="{0228E830-84F4-4B58-986C-1E0BF04664E3}" type="presOf" srcId="{284F94DA-DA2C-48AC-ACF9-2ADA5211FC57}" destId="{E1825BEF-B467-4E56-9671-921FD57C02FF}" srcOrd="0" destOrd="0" presId="urn:microsoft.com/office/officeart/2005/8/layout/vList6"/>
    <dgm:cxn modelId="{00C69939-E0B3-4DB6-9339-1631BC2A53FE}" type="presOf" srcId="{001D53F4-A170-4F90-B328-79BA7EA7247B}" destId="{06F6F5B4-BF7A-4E4A-B915-A4ACAF0902B2}" srcOrd="0" destOrd="1" presId="urn:microsoft.com/office/officeart/2005/8/layout/vList6"/>
    <dgm:cxn modelId="{E89FEC3D-68CB-439E-A568-1FC45D38304D}" srcId="{B209FF07-5E60-4680-BA51-CC9C7CEB682B}" destId="{F9A9D4B0-16DC-444F-91D4-FC1485FCE51A}" srcOrd="0" destOrd="0" parTransId="{3E9A1887-4F29-4B00-A7A5-0675E44A8618}" sibTransId="{52158DA5-A0BE-49A2-BE44-4612DFE612EC}"/>
    <dgm:cxn modelId="{E90AED5C-8ED0-469B-8322-CF3232403A6A}" type="presOf" srcId="{539BFFBD-7CD1-4720-BF56-FC1385EAD44B}" destId="{038CD986-4E04-406E-8AE3-704141171775}" srcOrd="0" destOrd="1" presId="urn:microsoft.com/office/officeart/2005/8/layout/vList6"/>
    <dgm:cxn modelId="{0391D268-2958-486D-972C-95B93EF84CA8}" srcId="{284F94DA-DA2C-48AC-ACF9-2ADA5211FC57}" destId="{FEF6C86F-75F8-412C-865A-247639830BF0}" srcOrd="1" destOrd="0" parTransId="{E97CFDE3-4982-45B9-BAD0-88E1F66858C5}" sibTransId="{8497E58A-D4ED-47E2-B90D-47E5B27A1AF1}"/>
    <dgm:cxn modelId="{CA56EC4E-E321-4027-BA2A-4487FD9FE0D4}" srcId="{B209FF07-5E60-4680-BA51-CC9C7CEB682B}" destId="{001D53F4-A170-4F90-B328-79BA7EA7247B}" srcOrd="1" destOrd="0" parTransId="{50E47F60-E01F-4CD9-93D2-B37A93BB404A}" sibTransId="{A8B9B42B-EB91-48C1-87AE-7FF0C1D16C60}"/>
    <dgm:cxn modelId="{445DDD75-1160-4D88-912D-0E5608C7E2D3}" type="presOf" srcId="{FEF6C86F-75F8-412C-865A-247639830BF0}" destId="{EA35948A-E10B-4AD5-8632-F0740D068E47}" srcOrd="0" destOrd="0" presId="urn:microsoft.com/office/officeart/2005/8/layout/vList6"/>
    <dgm:cxn modelId="{0526DE81-2743-423B-94DD-62016CC943CB}" type="presOf" srcId="{DD5DA4AC-0948-4FFF-A489-A5E1DB2CE940}" destId="{038CD986-4E04-406E-8AE3-704141171775}" srcOrd="0" destOrd="2" presId="urn:microsoft.com/office/officeart/2005/8/layout/vList6"/>
    <dgm:cxn modelId="{457BC191-7D51-45A6-A10F-F8781656B946}" srcId="{FEF6C86F-75F8-412C-865A-247639830BF0}" destId="{7EF79FDB-E8CF-4D37-BACE-56E8166B2A1C}" srcOrd="0" destOrd="0" parTransId="{93FFFE96-45BB-4F46-8FF4-51FBE7CA7709}" sibTransId="{2ED1A6A0-1E92-4267-9D6A-B3BB406A7C5A}"/>
    <dgm:cxn modelId="{1BBB9C96-E990-47CD-9D4F-B6C030276B17}" srcId="{FEF6C86F-75F8-412C-865A-247639830BF0}" destId="{DD5DA4AC-0948-4FFF-A489-A5E1DB2CE940}" srcOrd="2" destOrd="0" parTransId="{0642409F-47D1-4D92-B7A2-7A65276B36D3}" sibTransId="{7CAFE832-B67C-4253-A88D-E8BCF5B3C36E}"/>
    <dgm:cxn modelId="{50369DA2-E54C-4798-855E-68897B327BE7}" type="presOf" srcId="{7EF79FDB-E8CF-4D37-BACE-56E8166B2A1C}" destId="{038CD986-4E04-406E-8AE3-704141171775}" srcOrd="0" destOrd="0" presId="urn:microsoft.com/office/officeart/2005/8/layout/vList6"/>
    <dgm:cxn modelId="{196B69A5-BAED-49DE-82C3-4BC896509A6E}" type="presOf" srcId="{FA5FA140-CE26-43CD-819C-C2E35DB3A4D4}" destId="{038CD986-4E04-406E-8AE3-704141171775}" srcOrd="0" destOrd="3" presId="urn:microsoft.com/office/officeart/2005/8/layout/vList6"/>
    <dgm:cxn modelId="{9974B2AB-6682-4CD6-A285-1F8340042B2D}" srcId="{FEF6C86F-75F8-412C-865A-247639830BF0}" destId="{FA5FA140-CE26-43CD-819C-C2E35DB3A4D4}" srcOrd="3" destOrd="0" parTransId="{FC31DEF7-E6B7-4F79-83A0-11A8823962C1}" sibTransId="{B3A6C47D-589F-4EF4-8833-51128C3BB743}"/>
    <dgm:cxn modelId="{5249F6B2-424C-4E67-B2C6-B37E350886E7}" srcId="{FEF6C86F-75F8-412C-865A-247639830BF0}" destId="{539BFFBD-7CD1-4720-BF56-FC1385EAD44B}" srcOrd="1" destOrd="0" parTransId="{951DF874-0787-419B-9D62-B50531D98493}" sibTransId="{6935A1E5-D8B7-4B63-BAD0-E6D792BF11BD}"/>
    <dgm:cxn modelId="{F8A63E2C-CE04-4191-AAE1-BE6599AE0F2C}" type="presParOf" srcId="{E1825BEF-B467-4E56-9671-921FD57C02FF}" destId="{6F032C41-9A4D-46EF-90E6-D32CF5070F1B}" srcOrd="0" destOrd="0" presId="urn:microsoft.com/office/officeart/2005/8/layout/vList6"/>
    <dgm:cxn modelId="{1D820AE3-520E-4BD1-9AC3-D7DBCD6C0B6F}" type="presParOf" srcId="{6F032C41-9A4D-46EF-90E6-D32CF5070F1B}" destId="{297B79FC-2851-4E20-8665-AAFD91A2919D}" srcOrd="0" destOrd="0" presId="urn:microsoft.com/office/officeart/2005/8/layout/vList6"/>
    <dgm:cxn modelId="{33FFE5EA-4AF4-4935-BE5E-D7AFB0DBAD82}" type="presParOf" srcId="{6F032C41-9A4D-46EF-90E6-D32CF5070F1B}" destId="{06F6F5B4-BF7A-4E4A-B915-A4ACAF0902B2}" srcOrd="1" destOrd="0" presId="urn:microsoft.com/office/officeart/2005/8/layout/vList6"/>
    <dgm:cxn modelId="{C2197F20-9CC2-4951-86FD-BCB7C3EB6BC4}" type="presParOf" srcId="{E1825BEF-B467-4E56-9671-921FD57C02FF}" destId="{57534D41-F23D-495B-9C1D-57BA3BB92524}" srcOrd="1" destOrd="0" presId="urn:microsoft.com/office/officeart/2005/8/layout/vList6"/>
    <dgm:cxn modelId="{91E2D302-FAAD-435D-97B3-1D8BB56DDD0B}" type="presParOf" srcId="{E1825BEF-B467-4E56-9671-921FD57C02FF}" destId="{83A87099-5502-4AB9-AEC6-E4E9FEF7723C}" srcOrd="2" destOrd="0" presId="urn:microsoft.com/office/officeart/2005/8/layout/vList6"/>
    <dgm:cxn modelId="{5ED9749F-D14C-45D5-84BC-E410408B1509}" type="presParOf" srcId="{83A87099-5502-4AB9-AEC6-E4E9FEF7723C}" destId="{EA35948A-E10B-4AD5-8632-F0740D068E47}" srcOrd="0" destOrd="0" presId="urn:microsoft.com/office/officeart/2005/8/layout/vList6"/>
    <dgm:cxn modelId="{9E96EBBF-C4B6-4A44-8EB8-9214E74CAB3A}" type="presParOf" srcId="{83A87099-5502-4AB9-AEC6-E4E9FEF7723C}" destId="{038CD986-4E04-406E-8AE3-704141171775}"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F6F5B4-BF7A-4E4A-B915-A4ACAF0902B2}">
      <dsp:nvSpPr>
        <dsp:cNvPr id="0" name=""/>
        <dsp:cNvSpPr/>
      </dsp:nvSpPr>
      <dsp:spPr>
        <a:xfrm>
          <a:off x="4775174" y="3247"/>
          <a:ext cx="7162761" cy="1514897"/>
        </a:xfrm>
        <a:prstGeom prst="rightArrow">
          <a:avLst>
            <a:gd name="adj1" fmla="val 75000"/>
            <a:gd name="adj2" fmla="val 50000"/>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200000"/>
            </a:lnSpc>
            <a:spcBef>
              <a:spcPct val="0"/>
            </a:spcBef>
            <a:spcAft>
              <a:spcPct val="15000"/>
            </a:spcAft>
            <a:buChar char="•"/>
          </a:pPr>
          <a:r>
            <a:rPr lang="en-US" sz="1900" b="1" kern="1200" dirty="0">
              <a:solidFill>
                <a:srgbClr val="000510"/>
              </a:solidFill>
              <a:latin typeface="Times New Roman" pitchFamily="18" charset="0"/>
              <a:cs typeface="Times New Roman" pitchFamily="18" charset="0"/>
            </a:rPr>
            <a:t>Hybrid Error Detection</a:t>
          </a:r>
          <a:endParaRPr lang="en-US" sz="1900" kern="1200" dirty="0">
            <a:solidFill>
              <a:srgbClr val="000510"/>
            </a:solidFill>
            <a:latin typeface="Times New Roman" pitchFamily="18" charset="0"/>
            <a:cs typeface="Times New Roman" pitchFamily="18" charset="0"/>
          </a:endParaRPr>
        </a:p>
        <a:p>
          <a:pPr marL="171450" lvl="1" indent="-171450" algn="l" defTabSz="844550">
            <a:lnSpc>
              <a:spcPct val="200000"/>
            </a:lnSpc>
            <a:spcBef>
              <a:spcPct val="0"/>
            </a:spcBef>
            <a:spcAft>
              <a:spcPct val="15000"/>
            </a:spcAft>
            <a:buChar char="•"/>
          </a:pPr>
          <a:r>
            <a:rPr lang="en-US" sz="1900" b="1" kern="1200" dirty="0">
              <a:solidFill>
                <a:srgbClr val="000510"/>
              </a:solidFill>
              <a:latin typeface="Times New Roman" pitchFamily="18" charset="0"/>
              <a:cs typeface="Times New Roman" pitchFamily="18" charset="0"/>
            </a:rPr>
            <a:t>Underreporting Culture</a:t>
          </a:r>
          <a:endParaRPr lang="en-US" sz="1900" kern="1200" dirty="0">
            <a:solidFill>
              <a:srgbClr val="000510"/>
            </a:solidFill>
            <a:latin typeface="Times New Roman" pitchFamily="18" charset="0"/>
            <a:cs typeface="Times New Roman" pitchFamily="18" charset="0"/>
          </a:endParaRPr>
        </a:p>
      </dsp:txBody>
      <dsp:txXfrm>
        <a:off x="4775174" y="192609"/>
        <a:ext cx="6594675" cy="1136173"/>
      </dsp:txXfrm>
    </dsp:sp>
    <dsp:sp modelId="{297B79FC-2851-4E20-8665-AAFD91A2919D}">
      <dsp:nvSpPr>
        <dsp:cNvPr id="0" name=""/>
        <dsp:cNvSpPr/>
      </dsp:nvSpPr>
      <dsp:spPr>
        <a:xfrm>
          <a:off x="0" y="3247"/>
          <a:ext cx="4775174" cy="1514897"/>
        </a:xfrm>
        <a:prstGeom prst="round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rgbClr val="000510"/>
              </a:solidFill>
              <a:latin typeface="Times New Roman" pitchFamily="18" charset="0"/>
              <a:cs typeface="Times New Roman" pitchFamily="18" charset="0"/>
            </a:rPr>
            <a:t>PROCESS MEASURES</a:t>
          </a:r>
        </a:p>
      </dsp:txBody>
      <dsp:txXfrm>
        <a:off x="73951" y="77198"/>
        <a:ext cx="4627272" cy="1366995"/>
      </dsp:txXfrm>
    </dsp:sp>
    <dsp:sp modelId="{038CD986-4E04-406E-8AE3-704141171775}">
      <dsp:nvSpPr>
        <dsp:cNvPr id="0" name=""/>
        <dsp:cNvSpPr/>
      </dsp:nvSpPr>
      <dsp:spPr>
        <a:xfrm>
          <a:off x="4776340" y="1669635"/>
          <a:ext cx="7155766" cy="3063775"/>
        </a:xfrm>
        <a:prstGeom prst="rightArrow">
          <a:avLst>
            <a:gd name="adj1" fmla="val 75000"/>
            <a:gd name="adj2" fmla="val 50000"/>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65" tIns="12065" rIns="12065" bIns="12065" numCol="1" spcCol="1270" anchor="t" anchorCtr="0">
          <a:noAutofit/>
        </a:bodyPr>
        <a:lstStyle/>
        <a:p>
          <a:pPr marL="171450" lvl="1" indent="-171450" algn="l" defTabSz="844550">
            <a:lnSpc>
              <a:spcPct val="150000"/>
            </a:lnSpc>
            <a:spcBef>
              <a:spcPct val="0"/>
            </a:spcBef>
            <a:spcAft>
              <a:spcPct val="15000"/>
            </a:spcAft>
            <a:buChar char="•"/>
          </a:pPr>
          <a:r>
            <a:rPr lang="en-US" sz="1900" b="1" kern="1200" dirty="0">
              <a:solidFill>
                <a:srgbClr val="000B22"/>
              </a:solidFill>
              <a:latin typeface="Times New Roman" pitchFamily="18" charset="0"/>
              <a:cs typeface="Times New Roman" pitchFamily="18" charset="0"/>
            </a:rPr>
            <a:t>Service Delivery: Workloads and Staffing Shortages</a:t>
          </a:r>
          <a:endParaRPr lang="en-US" sz="1900" kern="1200" dirty="0">
            <a:solidFill>
              <a:srgbClr val="000B22"/>
            </a:solidFill>
            <a:latin typeface="Times New Roman" pitchFamily="18" charset="0"/>
            <a:cs typeface="Times New Roman" pitchFamily="18" charset="0"/>
          </a:endParaRPr>
        </a:p>
        <a:p>
          <a:pPr marL="171450" lvl="1" indent="-171450" algn="l" defTabSz="844550">
            <a:lnSpc>
              <a:spcPct val="150000"/>
            </a:lnSpc>
            <a:spcBef>
              <a:spcPct val="0"/>
            </a:spcBef>
            <a:spcAft>
              <a:spcPct val="15000"/>
            </a:spcAft>
            <a:buChar char="•"/>
          </a:pPr>
          <a:r>
            <a:rPr lang="en-US" sz="1900" b="1" kern="1200" dirty="0">
              <a:solidFill>
                <a:srgbClr val="000B22"/>
              </a:solidFill>
              <a:latin typeface="Times New Roman" pitchFamily="18" charset="0"/>
              <a:cs typeface="Times New Roman" pitchFamily="18" charset="0"/>
            </a:rPr>
            <a:t>Health Commodities: look-alike drugs and poor labeling</a:t>
          </a:r>
          <a:endParaRPr lang="en-US" sz="1900" kern="1200" dirty="0">
            <a:solidFill>
              <a:srgbClr val="000B22"/>
            </a:solidFill>
            <a:latin typeface="Times New Roman" pitchFamily="18" charset="0"/>
            <a:cs typeface="Times New Roman" pitchFamily="18" charset="0"/>
          </a:endParaRPr>
        </a:p>
        <a:p>
          <a:pPr marL="171450" lvl="1" indent="-171450" algn="l" defTabSz="844550">
            <a:lnSpc>
              <a:spcPct val="150000"/>
            </a:lnSpc>
            <a:spcBef>
              <a:spcPct val="0"/>
            </a:spcBef>
            <a:spcAft>
              <a:spcPct val="15000"/>
            </a:spcAft>
            <a:buChar char="•"/>
          </a:pPr>
          <a:r>
            <a:rPr lang="en-US" sz="1900" b="1" i="1" kern="1200" dirty="0">
              <a:solidFill>
                <a:srgbClr val="000B22"/>
              </a:solidFill>
              <a:latin typeface="Times New Roman" pitchFamily="18" charset="0"/>
              <a:cs typeface="Times New Roman" pitchFamily="18" charset="0"/>
            </a:rPr>
            <a:t>Health Information Systems: Hybrid Digital-Manual workflows</a:t>
          </a:r>
          <a:endParaRPr lang="en-US" sz="1900" kern="1200" dirty="0">
            <a:solidFill>
              <a:srgbClr val="000B22"/>
            </a:solidFill>
            <a:latin typeface="Times New Roman" pitchFamily="18" charset="0"/>
            <a:cs typeface="Times New Roman" pitchFamily="18" charset="0"/>
          </a:endParaRPr>
        </a:p>
        <a:p>
          <a:pPr marL="171450" lvl="1" indent="-171450" algn="l" defTabSz="844550">
            <a:lnSpc>
              <a:spcPct val="150000"/>
            </a:lnSpc>
            <a:spcBef>
              <a:spcPct val="0"/>
            </a:spcBef>
            <a:spcAft>
              <a:spcPct val="15000"/>
            </a:spcAft>
            <a:buFont typeface="Arial" panose="020B0604020202020204" pitchFamily="34" charset="0"/>
            <a:buChar char="•"/>
          </a:pPr>
          <a:r>
            <a:rPr lang="en-US" sz="1900" b="1" i="1" kern="1200" dirty="0">
              <a:solidFill>
                <a:srgbClr val="000B22"/>
              </a:solidFill>
              <a:latin typeface="Times New Roman" pitchFamily="18" charset="0"/>
              <a:cs typeface="Times New Roman" pitchFamily="18" charset="0"/>
            </a:rPr>
            <a:t>Leadership: Punitive Cultures</a:t>
          </a:r>
          <a:endParaRPr lang="en-US" sz="1900" kern="1200" dirty="0">
            <a:solidFill>
              <a:srgbClr val="000B22"/>
            </a:solidFill>
            <a:latin typeface="Times New Roman" pitchFamily="18" charset="0"/>
            <a:cs typeface="Times New Roman" pitchFamily="18" charset="0"/>
          </a:endParaRPr>
        </a:p>
      </dsp:txBody>
      <dsp:txXfrm>
        <a:off x="4776340" y="2052607"/>
        <a:ext cx="6006850" cy="2297831"/>
      </dsp:txXfrm>
    </dsp:sp>
    <dsp:sp modelId="{EA35948A-E10B-4AD5-8632-F0740D068E47}">
      <dsp:nvSpPr>
        <dsp:cNvPr id="0" name=""/>
        <dsp:cNvSpPr/>
      </dsp:nvSpPr>
      <dsp:spPr>
        <a:xfrm>
          <a:off x="5829" y="2444073"/>
          <a:ext cx="4770511" cy="1514897"/>
        </a:xfrm>
        <a:prstGeom prst="round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rgbClr val="000510"/>
              </a:solidFill>
              <a:latin typeface="Times New Roman" pitchFamily="18" charset="0"/>
              <a:cs typeface="Times New Roman" pitchFamily="18" charset="0"/>
            </a:rPr>
            <a:t>SYSTEMS MEASURES</a:t>
          </a:r>
        </a:p>
      </dsp:txBody>
      <dsp:txXfrm>
        <a:off x="79780" y="2518024"/>
        <a:ext cx="4622609" cy="1366995"/>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3223C6-80CD-43A6-9799-9C173D504466}" type="datetimeFigureOut">
              <a:rPr lang="en-US" smtClean="0"/>
              <a:pPr/>
              <a:t>8/5/2025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A990AB-20D1-43BF-B516-787DD3B64146}" type="slidenum">
              <a:rPr lang="en-US" smtClean="0"/>
              <a:pPr/>
              <a:t>‹#›</a:t>
            </a:fld>
            <a:endParaRPr lang="en-US"/>
          </a:p>
        </p:txBody>
      </p:sp>
    </p:spTree>
    <p:extLst>
      <p:ext uri="{BB962C8B-B14F-4D97-AF65-F5344CB8AC3E}">
        <p14:creationId xmlns:p14="http://schemas.microsoft.com/office/powerpoint/2010/main" val="6796606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F048E-1C9F-4AB1-A954-4BFBED0CD9EB}" type="datetimeFigureOut">
              <a:rPr lang="en-GB" smtClean="0"/>
              <a:pPr/>
              <a:t>05/08/2025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EBE8B-5F62-41CC-838C-093AFEE90A88}" type="slidenum">
              <a:rPr lang="en-GB" smtClean="0"/>
              <a:pPr/>
              <a:t>‹#›</a:t>
            </a:fld>
            <a:endParaRPr lang="en-GB"/>
          </a:p>
        </p:txBody>
      </p:sp>
    </p:spTree>
    <p:extLst>
      <p:ext uri="{BB962C8B-B14F-4D97-AF65-F5344CB8AC3E}">
        <p14:creationId xmlns:p14="http://schemas.microsoft.com/office/powerpoint/2010/main" val="1890420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7EBE8B-5F62-41CC-838C-093AFEE90A88}" type="slidenum">
              <a:rPr lang="en-GB" smtClean="0"/>
              <a:pPr/>
              <a:t>7</a:t>
            </a:fld>
            <a:endParaRPr lang="en-GB"/>
          </a:p>
        </p:txBody>
      </p:sp>
    </p:spTree>
    <p:extLst>
      <p:ext uri="{BB962C8B-B14F-4D97-AF65-F5344CB8AC3E}">
        <p14:creationId xmlns:p14="http://schemas.microsoft.com/office/powerpoint/2010/main" val="588183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flip="none" rotWithShape="0">
          <a:gsLst>
            <a:gs pos="42000">
              <a:srgbClr val="00002F">
                <a:lumMod val="74000"/>
              </a:srgbClr>
            </a:gs>
            <a:gs pos="100000">
              <a:srgbClr val="000066"/>
            </a:gs>
          </a:gsLst>
          <a:lin ang="5400000" scaled="1"/>
          <a:tileRect/>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82B803-9A24-448F-8F18-7A0874747813}"/>
              </a:ext>
            </a:extLst>
          </p:cNvPr>
          <p:cNvSpPr/>
          <p:nvPr userDrawn="1"/>
        </p:nvSpPr>
        <p:spPr>
          <a:xfrm flipV="1">
            <a:off x="0" y="-1300900"/>
            <a:ext cx="12206514" cy="4817097"/>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914400" y="1970772"/>
            <a:ext cx="103632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828800" y="3610434"/>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6" name="Rectangle 6"/>
          <p:cNvSpPr>
            <a:spLocks noGrp="1" noChangeArrowheads="1"/>
          </p:cNvSpPr>
          <p:nvPr>
            <p:ph type="sldNum" sz="quarter" idx="12"/>
          </p:nvPr>
        </p:nvSpPr>
        <p:spPr>
          <a:ln/>
        </p:spPr>
        <p:txBody>
          <a:bodyPr/>
          <a:lstStyle>
            <a:lvl1pPr>
              <a:defRPr/>
            </a:lvl1pPr>
          </a:lstStyle>
          <a:p>
            <a:pPr>
              <a:defRPr/>
            </a:pPr>
            <a:fld id="{8143B772-BA76-4343-BD37-92C4FF757526}" type="slidenum">
              <a:rPr lang="en-US" smtClean="0"/>
              <a:pPr>
                <a:defRPr/>
              </a:pPr>
              <a:t>‹#›</a:t>
            </a:fld>
            <a:endParaRPr lang="en-US"/>
          </a:p>
        </p:txBody>
      </p:sp>
    </p:spTree>
    <p:extLst>
      <p:ext uri="{BB962C8B-B14F-4D97-AF65-F5344CB8AC3E}">
        <p14:creationId xmlns:p14="http://schemas.microsoft.com/office/powerpoint/2010/main" val="263523622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9620" y="151694"/>
            <a:ext cx="11097293" cy="1007803"/>
          </a:xfrm>
        </p:spPr>
        <p:txBody>
          <a:bodyPr/>
          <a:lstStyle>
            <a:lvl1pPr>
              <a:defRPr sz="4000">
                <a:solidFill>
                  <a:schemeClr val="accent2">
                    <a:lumMod val="50000"/>
                  </a:schemeClr>
                </a:solidFill>
              </a:defRPr>
            </a:lvl1pPr>
          </a:lstStyle>
          <a:p>
            <a:r>
              <a:rPr lang="en-US" dirty="0"/>
              <a:t>Click to edit Master title style</a:t>
            </a:r>
          </a:p>
        </p:txBody>
      </p:sp>
      <p:sp>
        <p:nvSpPr>
          <p:cNvPr id="3" name="Content Placeholder 2"/>
          <p:cNvSpPr>
            <a:spLocks noGrp="1"/>
          </p:cNvSpPr>
          <p:nvPr>
            <p:ph idx="1"/>
          </p:nvPr>
        </p:nvSpPr>
        <p:spPr>
          <a:xfrm>
            <a:off x="499621" y="1346501"/>
            <a:ext cx="11097293" cy="47546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xfrm>
            <a:off x="11596914" y="6372052"/>
            <a:ext cx="490925" cy="419779"/>
          </a:xfrm>
          <a:ln/>
        </p:spPr>
        <p:txBody>
          <a:bodyPr/>
          <a:lstStyle>
            <a:lvl1pPr>
              <a:defRPr sz="1800"/>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1063109964"/>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2090751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1308641677"/>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2679472286"/>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4"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3522251535"/>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3"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3851936774"/>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1328549574"/>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259349036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1849460003"/>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a:p>
        </p:txBody>
      </p:sp>
    </p:spTree>
    <p:extLst>
      <p:ext uri="{BB962C8B-B14F-4D97-AF65-F5344CB8AC3E}">
        <p14:creationId xmlns:p14="http://schemas.microsoft.com/office/powerpoint/2010/main" val="2041887435"/>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endParaRPr lang="en-US"/>
          </a:p>
        </p:txBody>
      </p:sp>
      <p:sp>
        <p:nvSpPr>
          <p:cNvPr id="8"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F45D45EC-0DFD-44B6-8830-2C62377CF2F9}" type="slidenum">
              <a:rPr lang="en-US" smtClean="0"/>
              <a:pPr/>
              <a:t>‹#›</a:t>
            </a:fld>
            <a:endParaRPr lang="en-US" dirty="0"/>
          </a:p>
        </p:txBody>
      </p:sp>
    </p:spTree>
    <p:extLst>
      <p:ext uri="{BB962C8B-B14F-4D97-AF65-F5344CB8AC3E}">
        <p14:creationId xmlns:p14="http://schemas.microsoft.com/office/powerpoint/2010/main" val="2703523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34000">
              <a:srgbClr val="00002F">
                <a:lumMod val="74000"/>
              </a:srgbClr>
            </a:gs>
            <a:gs pos="92000">
              <a:srgbClr val="000066"/>
            </a:gs>
          </a:gsLst>
          <a:lin ang="5400000" scaled="0"/>
          <a:tileRect/>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715BCB8-82F7-4D70-9388-45E9438AF081}"/>
              </a:ext>
            </a:extLst>
          </p:cNvPr>
          <p:cNvSpPr/>
          <p:nvPr userDrawn="1"/>
        </p:nvSpPr>
        <p:spPr>
          <a:xfrm>
            <a:off x="0" y="-13587"/>
            <a:ext cx="12206514" cy="627448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solidFill>
            </a:endParaRPr>
          </a:p>
        </p:txBody>
      </p:sp>
      <p:sp>
        <p:nvSpPr>
          <p:cNvPr id="8" name="Rectangle 7"/>
          <p:cNvSpPr/>
          <p:nvPr userDrawn="1"/>
        </p:nvSpPr>
        <p:spPr>
          <a:xfrm>
            <a:off x="0" y="6214446"/>
            <a:ext cx="12206514" cy="6609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000510"/>
              </a:solidFill>
            </a:endParaRPr>
          </a:p>
        </p:txBody>
      </p:sp>
      <p:sp>
        <p:nvSpPr>
          <p:cNvPr id="8194" name="Rectangle 2"/>
          <p:cNvSpPr>
            <a:spLocks noGrp="1" noChangeArrowheads="1"/>
          </p:cNvSpPr>
          <p:nvPr>
            <p:ph type="title"/>
          </p:nvPr>
        </p:nvSpPr>
        <p:spPr bwMode="auto">
          <a:xfrm>
            <a:off x="499621" y="167062"/>
            <a:ext cx="11195477" cy="101699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2" name="Rectangle 11">
            <a:extLst>
              <a:ext uri="{FF2B5EF4-FFF2-40B4-BE49-F238E27FC236}">
                <a16:creationId xmlns:a16="http://schemas.microsoft.com/office/drawing/2014/main" id="{9A402D96-1511-424E-86A5-D09748545D87}"/>
              </a:ext>
            </a:extLst>
          </p:cNvPr>
          <p:cNvSpPr/>
          <p:nvPr userDrawn="1"/>
        </p:nvSpPr>
        <p:spPr>
          <a:xfrm>
            <a:off x="0" y="6178007"/>
            <a:ext cx="12206514" cy="797828"/>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95" name="Rectangle 3"/>
          <p:cNvSpPr>
            <a:spLocks noGrp="1" noChangeArrowheads="1"/>
          </p:cNvSpPr>
          <p:nvPr>
            <p:ph type="body" idx="1"/>
          </p:nvPr>
        </p:nvSpPr>
        <p:spPr bwMode="auto">
          <a:xfrm>
            <a:off x="499621" y="1346501"/>
            <a:ext cx="11195477" cy="47546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3190" name="Rectangle 6"/>
          <p:cNvSpPr>
            <a:spLocks noGrp="1" noChangeArrowheads="1"/>
          </p:cNvSpPr>
          <p:nvPr>
            <p:ph type="sldNum" sz="quarter" idx="4"/>
          </p:nvPr>
        </p:nvSpPr>
        <p:spPr bwMode="auto">
          <a:xfrm>
            <a:off x="11695099" y="6443029"/>
            <a:ext cx="435429" cy="3496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a:solidFill>
                  <a:schemeClr val="bg1">
                    <a:lumMod val="50000"/>
                  </a:schemeClr>
                </a:solidFill>
              </a:defRPr>
            </a:lvl1pPr>
          </a:lstStyle>
          <a:p>
            <a:fld id="{F45D45EC-0DFD-44B6-8830-2C62377CF2F9}" type="slidenum">
              <a:rPr lang="en-US" smtClean="0"/>
              <a:pPr/>
              <a:t>‹#›</a:t>
            </a:fld>
            <a:endParaRPr lang="en-US" dirty="0"/>
          </a:p>
        </p:txBody>
      </p:sp>
      <p:sp>
        <p:nvSpPr>
          <p:cNvPr id="2" name="TextBox 1">
            <a:extLst>
              <a:ext uri="{FF2B5EF4-FFF2-40B4-BE49-F238E27FC236}">
                <a16:creationId xmlns:a16="http://schemas.microsoft.com/office/drawing/2014/main" id="{159662B4-1225-4431-8F09-0BFD996911BF}"/>
              </a:ext>
            </a:extLst>
          </p:cNvPr>
          <p:cNvSpPr txBox="1"/>
          <p:nvPr userDrawn="1"/>
        </p:nvSpPr>
        <p:spPr>
          <a:xfrm>
            <a:off x="872565" y="6383503"/>
            <a:ext cx="9831294" cy="369332"/>
          </a:xfrm>
          <a:prstGeom prst="rect">
            <a:avLst/>
          </a:prstGeom>
          <a:noFill/>
        </p:spPr>
        <p:txBody>
          <a:bodyPr wrap="square" rtlCol="0">
            <a:spAutoFit/>
          </a:bodyPr>
          <a:lstStyle/>
          <a:p>
            <a:pPr algn="ctr"/>
            <a:r>
              <a:rPr lang="en-GB" dirty="0">
                <a:solidFill>
                  <a:schemeClr val="tx1"/>
                </a:solidFill>
              </a:rPr>
              <a:t>2</a:t>
            </a:r>
            <a:r>
              <a:rPr lang="en-GB" baseline="30000" dirty="0">
                <a:solidFill>
                  <a:schemeClr val="tx1"/>
                </a:solidFill>
              </a:rPr>
              <a:t>nd</a:t>
            </a:r>
            <a:r>
              <a:rPr lang="en-GB" dirty="0">
                <a:solidFill>
                  <a:schemeClr val="tx1"/>
                </a:solidFill>
              </a:rPr>
              <a:t> Scientific Conference,</a:t>
            </a:r>
            <a:r>
              <a:rPr lang="en-GB" baseline="0" dirty="0">
                <a:solidFill>
                  <a:schemeClr val="tx1"/>
                </a:solidFill>
              </a:rPr>
              <a:t> 2025 – </a:t>
            </a:r>
            <a:r>
              <a:rPr lang="en-GB" dirty="0">
                <a:solidFill>
                  <a:schemeClr val="tx1"/>
                </a:solidFill>
              </a:rPr>
              <a:t>Eastern</a:t>
            </a:r>
            <a:r>
              <a:rPr lang="en-GB" baseline="0" dirty="0">
                <a:solidFill>
                  <a:schemeClr val="tx1"/>
                </a:solidFill>
              </a:rPr>
              <a:t> </a:t>
            </a:r>
            <a:r>
              <a:rPr lang="en-GB" dirty="0">
                <a:solidFill>
                  <a:schemeClr val="tx1"/>
                </a:solidFill>
              </a:rPr>
              <a:t>Regional Hospital, Koforidua </a:t>
            </a:r>
          </a:p>
        </p:txBody>
      </p:sp>
      <p:sp>
        <p:nvSpPr>
          <p:cNvPr id="5" name="Rectangle 4">
            <a:extLst>
              <a:ext uri="{FF2B5EF4-FFF2-40B4-BE49-F238E27FC236}">
                <a16:creationId xmlns:a16="http://schemas.microsoft.com/office/drawing/2014/main" id="{8882B803-9A24-448F-8F18-7A0874747813}"/>
              </a:ext>
            </a:extLst>
          </p:cNvPr>
          <p:cNvSpPr/>
          <p:nvPr userDrawn="1"/>
        </p:nvSpPr>
        <p:spPr>
          <a:xfrm>
            <a:off x="-9427" y="1266806"/>
            <a:ext cx="12206514" cy="45719"/>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8331601"/>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fade/>
  </p:transition>
  <p:hf hdr="0" ftr="0" dt="0"/>
  <p:txStyles>
    <p:titleStyle>
      <a:lvl1pPr algn="ctr" rtl="0" eaLnBrk="1" fontAlgn="base" hangingPunct="1">
        <a:spcBef>
          <a:spcPct val="0"/>
        </a:spcBef>
        <a:spcAft>
          <a:spcPct val="0"/>
        </a:spcAft>
        <a:defRPr sz="4400">
          <a:solidFill>
            <a:schemeClr val="accent2">
              <a:lumMod val="50000"/>
            </a:schemeClr>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ts val="1200"/>
        </a:spcBef>
        <a:spcAft>
          <a:spcPct val="0"/>
        </a:spcAft>
        <a:buChar char="•"/>
        <a:defRPr sz="3200">
          <a:solidFill>
            <a:schemeClr val="accent2">
              <a:lumMod val="50000"/>
            </a:schemeClr>
          </a:solidFill>
          <a:latin typeface="+mn-lt"/>
          <a:ea typeface="+mn-ea"/>
          <a:cs typeface="+mn-cs"/>
        </a:defRPr>
      </a:lvl1pPr>
      <a:lvl2pPr marL="742950" indent="-285750" algn="l" rtl="0" eaLnBrk="1" fontAlgn="base" hangingPunct="1">
        <a:spcBef>
          <a:spcPts val="1200"/>
        </a:spcBef>
        <a:spcAft>
          <a:spcPct val="0"/>
        </a:spcAft>
        <a:buChar char="–"/>
        <a:defRPr sz="2800">
          <a:solidFill>
            <a:schemeClr val="accent2">
              <a:lumMod val="50000"/>
            </a:schemeClr>
          </a:solidFill>
          <a:latin typeface="+mn-lt"/>
        </a:defRPr>
      </a:lvl2pPr>
      <a:lvl3pPr marL="1143000" indent="-228600" algn="l" rtl="0" eaLnBrk="1" fontAlgn="base" hangingPunct="1">
        <a:spcBef>
          <a:spcPts val="1200"/>
        </a:spcBef>
        <a:spcAft>
          <a:spcPct val="0"/>
        </a:spcAft>
        <a:buFont typeface="Wingdings" panose="05000000000000000000" pitchFamily="2" charset="2"/>
        <a:buChar char="§"/>
        <a:defRPr sz="2400">
          <a:solidFill>
            <a:schemeClr val="accent2">
              <a:lumMod val="50000"/>
            </a:schemeClr>
          </a:solidFill>
          <a:latin typeface="+mn-lt"/>
        </a:defRPr>
      </a:lvl3pPr>
      <a:lvl4pPr marL="1600200" indent="-228600" algn="l" rtl="0" eaLnBrk="1" fontAlgn="base" hangingPunct="1">
        <a:spcBef>
          <a:spcPts val="1200"/>
        </a:spcBef>
        <a:spcAft>
          <a:spcPct val="0"/>
        </a:spcAft>
        <a:buChar char="–"/>
        <a:defRPr sz="2000">
          <a:solidFill>
            <a:schemeClr val="accent2">
              <a:lumMod val="50000"/>
            </a:schemeClr>
          </a:solidFill>
          <a:latin typeface="+mn-lt"/>
        </a:defRPr>
      </a:lvl4pPr>
      <a:lvl5pPr marL="2057400" indent="-228600" algn="l" rtl="0" eaLnBrk="1" fontAlgn="base" hangingPunct="1">
        <a:spcBef>
          <a:spcPts val="1200"/>
        </a:spcBef>
        <a:spcAft>
          <a:spcPct val="0"/>
        </a:spcAft>
        <a:buChar char="»"/>
        <a:defRPr sz="2000">
          <a:solidFill>
            <a:schemeClr val="accent2">
              <a:lumMod val="50000"/>
            </a:schemeClr>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124" y="1439056"/>
            <a:ext cx="11980402" cy="1405467"/>
          </a:xfrm>
        </p:spPr>
        <p:txBody>
          <a:bodyPr/>
          <a:lstStyle/>
          <a:p>
            <a:br>
              <a:rPr lang="en-US" dirty="0">
                <a:solidFill>
                  <a:srgbClr val="000510"/>
                </a:solidFill>
              </a:rPr>
            </a:br>
            <a:r>
              <a:rPr lang="en-US" sz="4000" dirty="0">
                <a:solidFill>
                  <a:srgbClr val="000510"/>
                </a:solidFill>
                <a:latin typeface="Times New Roman" pitchFamily="18" charset="0"/>
                <a:cs typeface="Times New Roman" pitchFamily="18" charset="0"/>
              </a:rPr>
              <a:t>Healthcare Providers' Strategies and Challenges in Managing Medication Errors in Eastern Region, Ghana;</a:t>
            </a:r>
            <a:br>
              <a:rPr lang="en-US" sz="4000" dirty="0">
                <a:solidFill>
                  <a:srgbClr val="000510"/>
                </a:solidFill>
                <a:latin typeface="Times New Roman" pitchFamily="18" charset="0"/>
                <a:cs typeface="Times New Roman" pitchFamily="18" charset="0"/>
              </a:rPr>
            </a:br>
            <a:r>
              <a:rPr lang="en-US" sz="4000" dirty="0">
                <a:solidFill>
                  <a:srgbClr val="000510"/>
                </a:solidFill>
                <a:latin typeface="Times New Roman" pitchFamily="18" charset="0"/>
                <a:cs typeface="Times New Roman" pitchFamily="18" charset="0"/>
              </a:rPr>
              <a:t> A Qualitative Study on Interventions, Communication, and Safety Improvements</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altLang="en-US" b="1" dirty="0"/>
              <a:t>Title</a:t>
            </a:r>
            <a:endParaRPr lang="en-US" dirty="0"/>
          </a:p>
        </p:txBody>
      </p:sp>
      <p:sp>
        <p:nvSpPr>
          <p:cNvPr id="3" name="Subtitle 2"/>
          <p:cNvSpPr>
            <a:spLocks noGrp="1"/>
          </p:cNvSpPr>
          <p:nvPr>
            <p:ph type="subTitle" idx="1"/>
          </p:nvPr>
        </p:nvSpPr>
        <p:spPr>
          <a:xfrm>
            <a:off x="1038889" y="3604034"/>
            <a:ext cx="10202873" cy="2265529"/>
          </a:xfrm>
        </p:spPr>
        <p:txBody>
          <a:bodyPr/>
          <a:lstStyle/>
          <a:p>
            <a:r>
              <a:rPr lang="en-US" altLang="en-US" b="1" dirty="0"/>
              <a:t>JOSEPHINE OSEI</a:t>
            </a:r>
          </a:p>
          <a:p>
            <a:r>
              <a:rPr lang="en-US" dirty="0"/>
              <a:t>ERHD  </a:t>
            </a:r>
          </a:p>
          <a:p>
            <a:r>
              <a:rPr lang="en-US" dirty="0"/>
              <a:t>AJ HEALTH &amp; RESEARCH CONSULT</a:t>
            </a:r>
          </a:p>
        </p:txBody>
      </p:sp>
      <p:sp>
        <p:nvSpPr>
          <p:cNvPr id="4" name="Slide Number Placeholder 3">
            <a:extLst>
              <a:ext uri="{FF2B5EF4-FFF2-40B4-BE49-F238E27FC236}">
                <a16:creationId xmlns:a16="http://schemas.microsoft.com/office/drawing/2014/main" id="{DB0167EB-9843-4EA7-8B8F-27C7E819AFD2}"/>
              </a:ext>
            </a:extLst>
          </p:cNvPr>
          <p:cNvSpPr>
            <a:spLocks noGrp="1"/>
          </p:cNvSpPr>
          <p:nvPr>
            <p:ph type="sldNum" sz="quarter" idx="12"/>
          </p:nvPr>
        </p:nvSpPr>
        <p:spPr/>
        <p:txBody>
          <a:bodyPr/>
          <a:lstStyle/>
          <a:p>
            <a:pPr>
              <a:defRPr/>
            </a:pPr>
            <a:fld id="{8143B772-BA76-4343-BD37-92C4FF757526}" type="slidenum">
              <a:rPr lang="en-US" smtClean="0"/>
              <a:pPr>
                <a:defRPr/>
              </a:pPr>
              <a:t>1</a:t>
            </a:fld>
            <a:endParaRPr lang="en-US"/>
          </a:p>
        </p:txBody>
      </p:sp>
    </p:spTree>
    <p:extLst>
      <p:ext uri="{BB962C8B-B14F-4D97-AF65-F5344CB8AC3E}">
        <p14:creationId xmlns:p14="http://schemas.microsoft.com/office/powerpoint/2010/main" val="3069996760"/>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1694"/>
            <a:ext cx="11582400" cy="790002"/>
          </a:xfrm>
        </p:spPr>
        <p:txBody>
          <a:bodyPr/>
          <a:lstStyle/>
          <a:p>
            <a:r>
              <a:rPr lang="en-US" altLang="en-US" b="1" dirty="0">
                <a:latin typeface="Times New Roman" pitchFamily="18" charset="0"/>
                <a:cs typeface="Times New Roman" pitchFamily="18" charset="0"/>
              </a:rPr>
              <a:t>Outline</a:t>
            </a: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56C88E9E-4803-4533-8E80-9F9540858817}"/>
              </a:ext>
            </a:extLst>
          </p:cNvPr>
          <p:cNvSpPr>
            <a:spLocks noGrp="1"/>
          </p:cNvSpPr>
          <p:nvPr>
            <p:ph type="sldNum" sz="quarter" idx="12"/>
          </p:nvPr>
        </p:nvSpPr>
        <p:spPr/>
        <p:txBody>
          <a:bodyPr/>
          <a:lstStyle/>
          <a:p>
            <a:fld id="{F45D45EC-0DFD-44B6-8830-2C62377CF2F9}" type="slidenum">
              <a:rPr lang="en-US" smtClean="0"/>
              <a:pPr/>
              <a:t>2</a:t>
            </a:fld>
            <a:endParaRPr lang="en-US"/>
          </a:p>
        </p:txBody>
      </p:sp>
      <p:sp>
        <p:nvSpPr>
          <p:cNvPr id="5" name="Content Placeholder 2"/>
          <p:cNvSpPr>
            <a:spLocks noGrp="1"/>
          </p:cNvSpPr>
          <p:nvPr>
            <p:ph idx="1"/>
          </p:nvPr>
        </p:nvSpPr>
        <p:spPr>
          <a:xfrm>
            <a:off x="163773" y="1405719"/>
            <a:ext cx="11433141" cy="4776717"/>
          </a:xfrm>
        </p:spPr>
        <p:txBody>
          <a:bodyPr/>
          <a:lstStyle/>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Background</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Objectives</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Methods</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Results</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Conclusion</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Recommendations</a:t>
            </a:r>
          </a:p>
          <a:p>
            <a:pPr marL="914400" lvl="1" indent="-514350" eaLnBrk="1" hangingPunct="1">
              <a:buFont typeface="Arial" panose="020B0604020202020204" pitchFamily="34" charset="0"/>
              <a:buChar char="•"/>
            </a:pPr>
            <a:r>
              <a:rPr lang="en-US" altLang="en-US" dirty="0">
                <a:solidFill>
                  <a:srgbClr val="000B22"/>
                </a:solidFill>
                <a:latin typeface="Times New Roman" panose="02020603050405020304" pitchFamily="18" charset="0"/>
                <a:cs typeface="Times New Roman" panose="02020603050405020304" pitchFamily="18" charset="0"/>
              </a:rPr>
              <a:t>Acknowledgements </a:t>
            </a:r>
          </a:p>
        </p:txBody>
      </p:sp>
    </p:spTree>
    <p:extLst>
      <p:ext uri="{BB962C8B-B14F-4D97-AF65-F5344CB8AC3E}">
        <p14:creationId xmlns:p14="http://schemas.microsoft.com/office/powerpoint/2010/main" val="1727511602"/>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C5B4-219B-C730-9CBE-0679FB005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900B1-808E-B179-F7A4-8FC9BA3647DE}"/>
              </a:ext>
            </a:extLst>
          </p:cNvPr>
          <p:cNvSpPr>
            <a:spLocks noGrp="1"/>
          </p:cNvSpPr>
          <p:nvPr>
            <p:ph type="title"/>
          </p:nvPr>
        </p:nvSpPr>
        <p:spPr>
          <a:xfrm>
            <a:off x="304800" y="151694"/>
            <a:ext cx="11582400" cy="790002"/>
          </a:xfrm>
        </p:spPr>
        <p:txBody>
          <a:bodyPr/>
          <a:lstStyle/>
          <a:p>
            <a:br>
              <a:rPr lang="en-US" altLang="en-US" dirty="0"/>
            </a:br>
            <a:r>
              <a:rPr lang="en-US" altLang="en-US" b="1" dirty="0">
                <a:latin typeface="Times New Roman" pitchFamily="18" charset="0"/>
                <a:cs typeface="Times New Roman" pitchFamily="18" charset="0"/>
              </a:rPr>
              <a:t>Background</a:t>
            </a:r>
            <a:br>
              <a:rPr lang="en-US" alt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2E58CCA-F4C3-ABC0-400E-9BDA727B76BC}"/>
              </a:ext>
            </a:extLst>
          </p:cNvPr>
          <p:cNvSpPr>
            <a:spLocks noGrp="1"/>
          </p:cNvSpPr>
          <p:nvPr>
            <p:ph type="sldNum" sz="quarter" idx="12"/>
          </p:nvPr>
        </p:nvSpPr>
        <p:spPr/>
        <p:txBody>
          <a:bodyPr/>
          <a:lstStyle/>
          <a:p>
            <a:fld id="{F45D45EC-0DFD-44B6-8830-2C62377CF2F9}" type="slidenum">
              <a:rPr lang="en-US" smtClean="0"/>
              <a:pPr/>
              <a:t>3</a:t>
            </a:fld>
            <a:endParaRPr lang="en-US"/>
          </a:p>
        </p:txBody>
      </p:sp>
      <p:sp>
        <p:nvSpPr>
          <p:cNvPr id="5" name="Content Placeholder 2">
            <a:extLst>
              <a:ext uri="{FF2B5EF4-FFF2-40B4-BE49-F238E27FC236}">
                <a16:creationId xmlns:a16="http://schemas.microsoft.com/office/drawing/2014/main" id="{12B33E4A-C8A1-3B4F-DBF7-C95FA5CB34EA}"/>
              </a:ext>
            </a:extLst>
          </p:cNvPr>
          <p:cNvSpPr>
            <a:spLocks noGrp="1"/>
          </p:cNvSpPr>
          <p:nvPr>
            <p:ph idx="1"/>
          </p:nvPr>
        </p:nvSpPr>
        <p:spPr>
          <a:xfrm>
            <a:off x="163773" y="1454046"/>
            <a:ext cx="11582400" cy="4512039"/>
          </a:xfrm>
        </p:spPr>
        <p:txBody>
          <a:bodyPr/>
          <a:lstStyle/>
          <a:p>
            <a:r>
              <a:rPr lang="en-US" altLang="en-US" sz="2200" dirty="0">
                <a:solidFill>
                  <a:srgbClr val="000B22"/>
                </a:solidFill>
                <a:latin typeface="Times New Roman" pitchFamily="18" charset="0"/>
                <a:cs typeface="Times New Roman" pitchFamily="18" charset="0"/>
              </a:rPr>
              <a:t> </a:t>
            </a:r>
            <a:r>
              <a:rPr lang="en-US" sz="2200" b="1" dirty="0">
                <a:solidFill>
                  <a:srgbClr val="000B22"/>
                </a:solidFill>
                <a:latin typeface="Times New Roman" pitchFamily="18" charset="0"/>
                <a:cs typeface="Times New Roman" pitchFamily="18" charset="0"/>
              </a:rPr>
              <a:t>Global Context:</a:t>
            </a:r>
            <a:endParaRPr lang="en-US" sz="2200" dirty="0">
              <a:solidFill>
                <a:srgbClr val="000B22"/>
              </a:solidFill>
              <a:latin typeface="Times New Roman" pitchFamily="18" charset="0"/>
              <a:cs typeface="Times New Roman" pitchFamily="18" charset="0"/>
            </a:endParaRPr>
          </a:p>
          <a:p>
            <a:pPr lvl="1"/>
            <a:r>
              <a:rPr lang="en-US" sz="2200" dirty="0">
                <a:solidFill>
                  <a:srgbClr val="000B22"/>
                </a:solidFill>
                <a:latin typeface="Times New Roman" pitchFamily="18" charset="0"/>
                <a:cs typeface="Times New Roman" pitchFamily="18" charset="0"/>
              </a:rPr>
              <a:t>Medication errors (MEs) cause preventable harm to 1 in 20 patients (WHO, 2019).</a:t>
            </a:r>
          </a:p>
          <a:p>
            <a:pPr lvl="1"/>
            <a:r>
              <a:rPr lang="en-US" sz="2200" dirty="0">
                <a:solidFill>
                  <a:srgbClr val="000B22"/>
                </a:solidFill>
                <a:latin typeface="Times New Roman" pitchFamily="18" charset="0"/>
                <a:cs typeface="Times New Roman" pitchFamily="18" charset="0"/>
              </a:rPr>
              <a:t>LMICs face higher risks: 83% of MEs are preventable, 30% result in death.</a:t>
            </a:r>
          </a:p>
          <a:p>
            <a:r>
              <a:rPr lang="en-US" sz="2200" b="1" dirty="0">
                <a:solidFill>
                  <a:srgbClr val="000B22"/>
                </a:solidFill>
                <a:latin typeface="Times New Roman" pitchFamily="18" charset="0"/>
                <a:cs typeface="Times New Roman" pitchFamily="18" charset="0"/>
              </a:rPr>
              <a:t>Ghana’s Challenge:</a:t>
            </a:r>
            <a:endParaRPr lang="en-US" sz="2200" dirty="0">
              <a:solidFill>
                <a:srgbClr val="000B22"/>
              </a:solidFill>
              <a:latin typeface="Times New Roman" pitchFamily="18" charset="0"/>
              <a:cs typeface="Times New Roman" pitchFamily="18" charset="0"/>
            </a:endParaRPr>
          </a:p>
          <a:p>
            <a:pPr lvl="1"/>
            <a:r>
              <a:rPr lang="en-US" sz="2200" dirty="0">
                <a:solidFill>
                  <a:srgbClr val="000B22"/>
                </a:solidFill>
                <a:latin typeface="Times New Roman" pitchFamily="18" charset="0"/>
                <a:cs typeface="Times New Roman" pitchFamily="18" charset="0"/>
              </a:rPr>
              <a:t>Limited data but a burden trends that mirrors other LMIC countries (i.e. weak reporting systems).</a:t>
            </a:r>
          </a:p>
          <a:p>
            <a:pPr lvl="1"/>
            <a:r>
              <a:rPr lang="en-US" sz="2200" dirty="0">
                <a:solidFill>
                  <a:srgbClr val="000B22"/>
                </a:solidFill>
                <a:latin typeface="Times New Roman" pitchFamily="18" charset="0"/>
                <a:cs typeface="Times New Roman" pitchFamily="18" charset="0"/>
              </a:rPr>
              <a:t>Eastern Region: 3.3M population, 1,226 health facilities, hybrid digital-manual workflows.</a:t>
            </a:r>
          </a:p>
          <a:p>
            <a:r>
              <a:rPr lang="en-US" sz="2200" b="1" dirty="0">
                <a:solidFill>
                  <a:srgbClr val="000B22"/>
                </a:solidFill>
                <a:latin typeface="Times New Roman" pitchFamily="18" charset="0"/>
                <a:cs typeface="Times New Roman" pitchFamily="18" charset="0"/>
              </a:rPr>
              <a:t>Research Gap:</a:t>
            </a:r>
            <a:endParaRPr lang="en-US" sz="2200" dirty="0">
              <a:solidFill>
                <a:srgbClr val="000B22"/>
              </a:solidFill>
              <a:latin typeface="Times New Roman" pitchFamily="18" charset="0"/>
              <a:cs typeface="Times New Roman" pitchFamily="18" charset="0"/>
            </a:endParaRPr>
          </a:p>
          <a:p>
            <a:pPr lvl="1"/>
            <a:r>
              <a:rPr lang="en-US" sz="2200" dirty="0">
                <a:solidFill>
                  <a:srgbClr val="000B22"/>
                </a:solidFill>
                <a:latin typeface="Times New Roman" pitchFamily="18" charset="0"/>
                <a:cs typeface="Times New Roman" pitchFamily="18" charset="0"/>
              </a:rPr>
              <a:t>Scanty studies on Ghana-specific challenges, especially in Eastern Region</a:t>
            </a:r>
            <a:r>
              <a:rPr lang="en-US" sz="2000" dirty="0">
                <a:solidFill>
                  <a:srgbClr val="000B22"/>
                </a:solidFill>
                <a:latin typeface="Times New Roman" pitchFamily="18" charset="0"/>
                <a:cs typeface="Times New Roman" pitchFamily="18" charset="0"/>
              </a:rPr>
              <a:t>.</a:t>
            </a:r>
          </a:p>
          <a:p>
            <a:pPr lvl="1">
              <a:buFont typeface="Arial" panose="020B0604020202020204" pitchFamily="34" charset="0"/>
              <a:buChar char="•"/>
            </a:pPr>
            <a:endParaRPr lang="en-US" sz="2000" dirty="0"/>
          </a:p>
        </p:txBody>
      </p:sp>
    </p:spTree>
    <p:extLst>
      <p:ext uri="{BB962C8B-B14F-4D97-AF65-F5344CB8AC3E}">
        <p14:creationId xmlns:p14="http://schemas.microsoft.com/office/powerpoint/2010/main" val="380385706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277E-592C-4507-9903-E754D43916D3}"/>
              </a:ext>
            </a:extLst>
          </p:cNvPr>
          <p:cNvSpPr>
            <a:spLocks noGrp="1"/>
          </p:cNvSpPr>
          <p:nvPr>
            <p:ph type="title"/>
          </p:nvPr>
        </p:nvSpPr>
        <p:spPr/>
        <p:txBody>
          <a:bodyPr/>
          <a:lstStyle/>
          <a:p>
            <a:r>
              <a:rPr lang="en-US" b="1" dirty="0">
                <a:latin typeface="Times New Roman" pitchFamily="18" charset="0"/>
                <a:cs typeface="Times New Roman" pitchFamily="18" charset="0"/>
              </a:rPr>
              <a:t>Objectives</a:t>
            </a:r>
            <a:br>
              <a:rPr lang="en-US" dirty="0"/>
            </a:br>
            <a:endParaRPr lang="en-US" dirty="0"/>
          </a:p>
        </p:txBody>
      </p:sp>
      <p:sp>
        <p:nvSpPr>
          <p:cNvPr id="3" name="Content Placeholder 2">
            <a:extLst>
              <a:ext uri="{FF2B5EF4-FFF2-40B4-BE49-F238E27FC236}">
                <a16:creationId xmlns:a16="http://schemas.microsoft.com/office/drawing/2014/main" id="{64B0F7D4-8C1A-3FC0-DF49-1829B5ECAB6D}"/>
              </a:ext>
            </a:extLst>
          </p:cNvPr>
          <p:cNvSpPr>
            <a:spLocks noGrp="1"/>
          </p:cNvSpPr>
          <p:nvPr>
            <p:ph idx="1"/>
          </p:nvPr>
        </p:nvSpPr>
        <p:spPr>
          <a:xfrm>
            <a:off x="499621" y="1159497"/>
            <a:ext cx="11097293" cy="4941627"/>
          </a:xfrm>
        </p:spPr>
        <p:txBody>
          <a:bodyPr/>
          <a:lstStyle/>
          <a:p>
            <a:r>
              <a:rPr lang="en-US" b="1" dirty="0">
                <a:solidFill>
                  <a:srgbClr val="000B22"/>
                </a:solidFill>
                <a:latin typeface="Times New Roman" panose="02020603050405020304" pitchFamily="18" charset="0"/>
                <a:cs typeface="Times New Roman" panose="02020603050405020304" pitchFamily="18" charset="0"/>
              </a:rPr>
              <a:t>General Objective:</a:t>
            </a:r>
            <a:endParaRPr lang="en-US" dirty="0">
              <a:solidFill>
                <a:srgbClr val="000B22"/>
              </a:solidFill>
              <a:latin typeface="Times New Roman" panose="02020603050405020304" pitchFamily="18" charset="0"/>
              <a:cs typeface="Times New Roman" panose="02020603050405020304" pitchFamily="18" charset="0"/>
            </a:endParaRPr>
          </a:p>
          <a:p>
            <a:pPr marL="457200" lvl="1" indent="0">
              <a:buNone/>
            </a:pPr>
            <a:r>
              <a:rPr lang="en-US" dirty="0">
                <a:solidFill>
                  <a:srgbClr val="000B22"/>
                </a:solidFill>
                <a:latin typeface="Times New Roman" panose="02020603050405020304" pitchFamily="18" charset="0"/>
                <a:cs typeface="Times New Roman" panose="02020603050405020304" pitchFamily="18" charset="0"/>
              </a:rPr>
              <a:t>To explore providers’ experiences, strategies, and challenges in managing MEs.</a:t>
            </a:r>
          </a:p>
          <a:p>
            <a:r>
              <a:rPr lang="en-US" b="1" dirty="0">
                <a:solidFill>
                  <a:srgbClr val="000B22"/>
                </a:solidFill>
                <a:latin typeface="Times New Roman" panose="02020603050405020304" pitchFamily="18" charset="0"/>
                <a:cs typeface="Times New Roman" panose="02020603050405020304" pitchFamily="18" charset="0"/>
              </a:rPr>
              <a:t>Specific Objectives:</a:t>
            </a:r>
            <a:endParaRPr lang="en-US" dirty="0">
              <a:solidFill>
                <a:srgbClr val="000B22"/>
              </a:solidFill>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dirty="0">
                <a:solidFill>
                  <a:srgbClr val="000B22"/>
                </a:solidFill>
                <a:latin typeface="Times New Roman" panose="02020603050405020304" pitchFamily="18" charset="0"/>
                <a:cs typeface="Times New Roman" panose="02020603050405020304" pitchFamily="18" charset="0"/>
              </a:rPr>
              <a:t>Examine processes for identifying/resolving MEs (time spent, methods).</a:t>
            </a:r>
          </a:p>
          <a:p>
            <a:pPr marL="971550" lvl="1" indent="-514350">
              <a:buFont typeface="+mj-lt"/>
              <a:buAutoNum type="arabicPeriod"/>
            </a:pPr>
            <a:r>
              <a:rPr lang="en-US" dirty="0">
                <a:solidFill>
                  <a:srgbClr val="000B22"/>
                </a:solidFill>
                <a:latin typeface="Times New Roman" panose="02020603050405020304" pitchFamily="18" charset="0"/>
                <a:cs typeface="Times New Roman" panose="02020603050405020304" pitchFamily="18" charset="0"/>
              </a:rPr>
              <a:t>Assess institutional resources and communication strategies.</a:t>
            </a:r>
          </a:p>
          <a:p>
            <a:pPr marL="971550" lvl="1" indent="-514350">
              <a:buFont typeface="+mj-lt"/>
              <a:buAutoNum type="arabicPeriod"/>
            </a:pPr>
            <a:r>
              <a:rPr lang="en-US" dirty="0">
                <a:solidFill>
                  <a:srgbClr val="000B22"/>
                </a:solidFill>
                <a:latin typeface="Times New Roman" panose="02020603050405020304" pitchFamily="18" charset="0"/>
                <a:cs typeface="Times New Roman" panose="02020603050405020304" pitchFamily="18" charset="0"/>
              </a:rPr>
              <a:t>Identify root causes and innovations for prevention.</a:t>
            </a:r>
          </a:p>
          <a:p>
            <a:endParaRPr lang="en-US" dirty="0"/>
          </a:p>
        </p:txBody>
      </p:sp>
      <p:sp>
        <p:nvSpPr>
          <p:cNvPr id="4" name="Slide Number Placeholder 3">
            <a:extLst>
              <a:ext uri="{FF2B5EF4-FFF2-40B4-BE49-F238E27FC236}">
                <a16:creationId xmlns:a16="http://schemas.microsoft.com/office/drawing/2014/main" id="{B730D9B7-588B-7C96-A27F-658A4B8479E9}"/>
              </a:ext>
            </a:extLst>
          </p:cNvPr>
          <p:cNvSpPr>
            <a:spLocks noGrp="1"/>
          </p:cNvSpPr>
          <p:nvPr>
            <p:ph type="sldNum" sz="quarter" idx="12"/>
          </p:nvPr>
        </p:nvSpPr>
        <p:spPr/>
        <p:txBody>
          <a:bodyPr/>
          <a:lstStyle/>
          <a:p>
            <a:fld id="{F45D45EC-0DFD-44B6-8830-2C62377CF2F9}" type="slidenum">
              <a:rPr lang="en-US" smtClean="0"/>
              <a:pPr/>
              <a:t>4</a:t>
            </a:fld>
            <a:endParaRPr lang="en-US"/>
          </a:p>
        </p:txBody>
      </p:sp>
    </p:spTree>
    <p:extLst>
      <p:ext uri="{BB962C8B-B14F-4D97-AF65-F5344CB8AC3E}">
        <p14:creationId xmlns:p14="http://schemas.microsoft.com/office/powerpoint/2010/main" val="165678265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C5B4-219B-C730-9CBE-0679FB005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900B1-808E-B179-F7A4-8FC9BA3647DE}"/>
              </a:ext>
            </a:extLst>
          </p:cNvPr>
          <p:cNvSpPr>
            <a:spLocks noGrp="1"/>
          </p:cNvSpPr>
          <p:nvPr>
            <p:ph type="title"/>
          </p:nvPr>
        </p:nvSpPr>
        <p:spPr>
          <a:xfrm>
            <a:off x="304800" y="66169"/>
            <a:ext cx="11582400" cy="1073083"/>
          </a:xfrm>
        </p:spPr>
        <p:txBody>
          <a:bodyPr/>
          <a:lstStyle/>
          <a:p>
            <a:r>
              <a:rPr lang="en-US" altLang="en-US" b="1" dirty="0">
                <a:solidFill>
                  <a:srgbClr val="000B22"/>
                </a:solidFill>
                <a:latin typeface="Times New Roman" pitchFamily="18" charset="0"/>
                <a:cs typeface="Times New Roman" pitchFamily="18" charset="0"/>
              </a:rPr>
              <a:t>The Reason’s Swiss-Cheese model framework</a:t>
            </a:r>
            <a:endParaRPr lang="en-US" dirty="0">
              <a:solidFill>
                <a:srgbClr val="000B22"/>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2E58CCA-F4C3-ABC0-400E-9BDA727B76BC}"/>
              </a:ext>
            </a:extLst>
          </p:cNvPr>
          <p:cNvSpPr>
            <a:spLocks noGrp="1"/>
          </p:cNvSpPr>
          <p:nvPr>
            <p:ph type="sldNum" sz="quarter" idx="12"/>
          </p:nvPr>
        </p:nvSpPr>
        <p:spPr/>
        <p:txBody>
          <a:bodyPr/>
          <a:lstStyle/>
          <a:p>
            <a:fld id="{F45D45EC-0DFD-44B6-8830-2C62377CF2F9}" type="slidenum">
              <a:rPr lang="en-US" smtClean="0"/>
              <a:pPr/>
              <a:t>5</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972766" y="1420237"/>
            <a:ext cx="9941668" cy="4727643"/>
          </a:xfrm>
          <a:prstGeom prst="rect">
            <a:avLst/>
          </a:prstGeom>
          <a:noFill/>
          <a:ln w="9525">
            <a:noFill/>
            <a:miter lim="800000"/>
            <a:headEnd/>
            <a:tailEnd/>
          </a:ln>
          <a:effectLst/>
        </p:spPr>
      </p:pic>
    </p:spTree>
    <p:extLst>
      <p:ext uri="{BB962C8B-B14F-4D97-AF65-F5344CB8AC3E}">
        <p14:creationId xmlns:p14="http://schemas.microsoft.com/office/powerpoint/2010/main" val="3803857060"/>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1C3E9-AD72-1742-B2B9-0959964538D1}"/>
              </a:ext>
            </a:extLst>
          </p:cNvPr>
          <p:cNvSpPr>
            <a:spLocks noGrp="1"/>
          </p:cNvSpPr>
          <p:nvPr>
            <p:ph type="title"/>
          </p:nvPr>
        </p:nvSpPr>
        <p:spPr/>
        <p:txBody>
          <a:bodyPr/>
          <a:lstStyle/>
          <a:p>
            <a:br>
              <a:rPr lang="en-US" b="1" dirty="0"/>
            </a:br>
            <a:r>
              <a:rPr lang="en-US" b="1" dirty="0">
                <a:latin typeface="Times New Roman" pitchFamily="18" charset="0"/>
                <a:cs typeface="Times New Roman" pitchFamily="18" charset="0"/>
              </a:rPr>
              <a:t>Methods</a:t>
            </a:r>
            <a:br>
              <a:rPr lang="en-US" dirty="0"/>
            </a:br>
            <a:endParaRPr lang="en-US" dirty="0"/>
          </a:p>
        </p:txBody>
      </p:sp>
      <p:sp>
        <p:nvSpPr>
          <p:cNvPr id="3" name="Content Placeholder 2">
            <a:extLst>
              <a:ext uri="{FF2B5EF4-FFF2-40B4-BE49-F238E27FC236}">
                <a16:creationId xmlns:a16="http://schemas.microsoft.com/office/drawing/2014/main" id="{8F2FCACF-3D24-A539-1555-BDA88ADB4A83}"/>
              </a:ext>
            </a:extLst>
          </p:cNvPr>
          <p:cNvSpPr>
            <a:spLocks noGrp="1"/>
          </p:cNvSpPr>
          <p:nvPr>
            <p:ph idx="1"/>
          </p:nvPr>
        </p:nvSpPr>
        <p:spPr>
          <a:xfrm>
            <a:off x="499621" y="1334125"/>
            <a:ext cx="11432550" cy="4841823"/>
          </a:xfrm>
        </p:spPr>
        <p:txBody>
          <a:bodyPr/>
          <a:lstStyle/>
          <a:p>
            <a:r>
              <a:rPr lang="en-US" sz="2800" b="1" dirty="0">
                <a:solidFill>
                  <a:srgbClr val="000B22"/>
                </a:solidFill>
                <a:latin typeface="Times New Roman" panose="02020603050405020304" pitchFamily="18" charset="0"/>
                <a:cs typeface="Times New Roman" panose="02020603050405020304" pitchFamily="18" charset="0"/>
              </a:rPr>
              <a:t>Design:</a:t>
            </a:r>
            <a:r>
              <a:rPr lang="en-US" sz="2800" dirty="0">
                <a:solidFill>
                  <a:srgbClr val="000B22"/>
                </a:solidFill>
                <a:latin typeface="Times New Roman" panose="02020603050405020304" pitchFamily="18" charset="0"/>
                <a:cs typeface="Times New Roman" panose="02020603050405020304" pitchFamily="18" charset="0"/>
              </a:rPr>
              <a:t> Qualitative, in-depth interviews.</a:t>
            </a:r>
          </a:p>
          <a:p>
            <a:r>
              <a:rPr lang="en-US" sz="2800" b="1" dirty="0">
                <a:solidFill>
                  <a:srgbClr val="000B22"/>
                </a:solidFill>
                <a:latin typeface="Times New Roman" panose="02020603050405020304" pitchFamily="18" charset="0"/>
                <a:cs typeface="Times New Roman" panose="02020603050405020304" pitchFamily="18" charset="0"/>
              </a:rPr>
              <a:t>Setting:</a:t>
            </a:r>
            <a:r>
              <a:rPr lang="en-US" sz="2800" dirty="0">
                <a:solidFill>
                  <a:srgbClr val="000B22"/>
                </a:solidFill>
                <a:latin typeface="Times New Roman" panose="02020603050405020304" pitchFamily="18" charset="0"/>
                <a:cs typeface="Times New Roman" panose="02020603050405020304" pitchFamily="18" charset="0"/>
              </a:rPr>
              <a:t> 9 districts (3 zones) in Eastern Region; 27 participants (Prescribers, Nurses, Pharmacists and Pharmacy Technicians).</a:t>
            </a:r>
          </a:p>
          <a:p>
            <a:r>
              <a:rPr lang="en-US" sz="2800" b="1" dirty="0">
                <a:solidFill>
                  <a:srgbClr val="000B22"/>
                </a:solidFill>
                <a:latin typeface="Times New Roman" panose="02020603050405020304" pitchFamily="18" charset="0"/>
                <a:cs typeface="Times New Roman" panose="02020603050405020304" pitchFamily="18" charset="0"/>
              </a:rPr>
              <a:t>Sampling:  </a:t>
            </a:r>
            <a:r>
              <a:rPr lang="en-US" sz="2800" dirty="0">
                <a:solidFill>
                  <a:srgbClr val="000B22"/>
                </a:solidFill>
                <a:latin typeface="Times New Roman" panose="02020603050405020304" pitchFamily="18" charset="0"/>
                <a:cs typeface="Times New Roman" panose="02020603050405020304" pitchFamily="18" charset="0"/>
              </a:rPr>
              <a:t>Random selection of  District Hospitals </a:t>
            </a:r>
            <a:r>
              <a:rPr lang="en-US" sz="2800" b="1" dirty="0">
                <a:solidFill>
                  <a:srgbClr val="000B22"/>
                </a:solidFill>
                <a:latin typeface="Times New Roman" panose="02020603050405020304" pitchFamily="18" charset="0"/>
                <a:cs typeface="Times New Roman" panose="02020603050405020304" pitchFamily="18" charset="0"/>
              </a:rPr>
              <a:t>and </a:t>
            </a:r>
            <a:r>
              <a:rPr lang="en-US" sz="2800" dirty="0">
                <a:solidFill>
                  <a:srgbClr val="000B22"/>
                </a:solidFill>
                <a:latin typeface="Times New Roman" panose="02020603050405020304" pitchFamily="18" charset="0"/>
                <a:cs typeface="Times New Roman" panose="02020603050405020304" pitchFamily="18" charset="0"/>
              </a:rPr>
              <a:t> Purposive selection of participants from district hospitals.</a:t>
            </a:r>
          </a:p>
          <a:p>
            <a:r>
              <a:rPr lang="en-US" sz="2800" b="1" dirty="0">
                <a:solidFill>
                  <a:srgbClr val="000B22"/>
                </a:solidFill>
                <a:latin typeface="Times New Roman" panose="02020603050405020304" pitchFamily="18" charset="0"/>
                <a:cs typeface="Times New Roman" panose="02020603050405020304" pitchFamily="18" charset="0"/>
              </a:rPr>
              <a:t>Data Collection:</a:t>
            </a:r>
            <a:r>
              <a:rPr lang="en-US" sz="2800" dirty="0">
                <a:solidFill>
                  <a:srgbClr val="000B22"/>
                </a:solidFill>
                <a:latin typeface="Times New Roman" panose="02020603050405020304" pitchFamily="18" charset="0"/>
                <a:cs typeface="Times New Roman" panose="02020603050405020304" pitchFamily="18" charset="0"/>
              </a:rPr>
              <a:t> Audio-recorded interviews, thematic analysis based on key themes.</a:t>
            </a:r>
          </a:p>
          <a:p>
            <a:r>
              <a:rPr lang="en-US" sz="2800" b="1" dirty="0">
                <a:solidFill>
                  <a:srgbClr val="000B22"/>
                </a:solidFill>
                <a:latin typeface="Times New Roman" panose="02020603050405020304" pitchFamily="18" charset="0"/>
                <a:cs typeface="Times New Roman" panose="02020603050405020304" pitchFamily="18" charset="0"/>
              </a:rPr>
              <a:t>Ethics:</a:t>
            </a:r>
            <a:r>
              <a:rPr lang="en-US" sz="2800" dirty="0">
                <a:solidFill>
                  <a:srgbClr val="000B22"/>
                </a:solidFill>
                <a:latin typeface="Times New Roman" panose="02020603050405020304" pitchFamily="18" charset="0"/>
                <a:cs typeface="Times New Roman" panose="02020603050405020304" pitchFamily="18" charset="0"/>
              </a:rPr>
              <a:t> Confidentiality ensured, Regional permissions obtained from ERHD.</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5D03B3FC-D7B4-52A9-9629-E6BC6453F9F1}"/>
              </a:ext>
            </a:extLst>
          </p:cNvPr>
          <p:cNvSpPr>
            <a:spLocks noGrp="1"/>
          </p:cNvSpPr>
          <p:nvPr>
            <p:ph type="sldNum" sz="quarter" idx="12"/>
          </p:nvPr>
        </p:nvSpPr>
        <p:spPr/>
        <p:txBody>
          <a:bodyPr/>
          <a:lstStyle/>
          <a:p>
            <a:fld id="{F45D45EC-0DFD-44B6-8830-2C62377CF2F9}" type="slidenum">
              <a:rPr lang="en-US" smtClean="0"/>
              <a:pPr/>
              <a:t>6</a:t>
            </a:fld>
            <a:endParaRPr lang="en-US"/>
          </a:p>
        </p:txBody>
      </p:sp>
    </p:spTree>
    <p:extLst>
      <p:ext uri="{BB962C8B-B14F-4D97-AF65-F5344CB8AC3E}">
        <p14:creationId xmlns:p14="http://schemas.microsoft.com/office/powerpoint/2010/main" val="84938512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3EBF-D3D6-57FE-3823-7B4EA439388B}"/>
              </a:ext>
            </a:extLst>
          </p:cNvPr>
          <p:cNvSpPr>
            <a:spLocks noGrp="1"/>
          </p:cNvSpPr>
          <p:nvPr>
            <p:ph type="title"/>
          </p:nvPr>
        </p:nvSpPr>
        <p:spPr/>
        <p:txBody>
          <a:bodyPr/>
          <a:lstStyle/>
          <a:p>
            <a:r>
              <a:rPr lang="en-US" b="1" dirty="0">
                <a:latin typeface="Times New Roman" pitchFamily="18" charset="0"/>
                <a:cs typeface="Times New Roman" pitchFamily="18" charset="0"/>
              </a:rPr>
              <a:t>Questionnaire Pre-Test Site</a:t>
            </a:r>
          </a:p>
        </p:txBody>
      </p:sp>
      <p:graphicFrame>
        <p:nvGraphicFramePr>
          <p:cNvPr id="6" name="Content Placeholder 5">
            <a:extLst>
              <a:ext uri="{FF2B5EF4-FFF2-40B4-BE49-F238E27FC236}">
                <a16:creationId xmlns:a16="http://schemas.microsoft.com/office/drawing/2014/main" id="{3C5F1D89-671A-675D-8EF5-85AF1DE9AFBD}"/>
              </a:ext>
            </a:extLst>
          </p:cNvPr>
          <p:cNvGraphicFramePr>
            <a:graphicFrameLocks noGrp="1"/>
          </p:cNvGraphicFramePr>
          <p:nvPr>
            <p:ph idx="1"/>
            <p:extLst>
              <p:ext uri="{D42A27DB-BD31-4B8C-83A1-F6EECF244321}">
                <p14:modId xmlns:p14="http://schemas.microsoft.com/office/powerpoint/2010/main" val="1363121720"/>
              </p:ext>
            </p:extLst>
          </p:nvPr>
        </p:nvGraphicFramePr>
        <p:xfrm>
          <a:off x="134910" y="1379095"/>
          <a:ext cx="11952928" cy="4661941"/>
        </p:xfrm>
        <a:graphic>
          <a:graphicData uri="http://schemas.openxmlformats.org/drawingml/2006/table">
            <a:tbl>
              <a:tblPr firstRow="1" bandRow="1">
                <a:tableStyleId>{5C22544A-7EE6-4342-B048-85BDC9FD1C3A}</a:tableStyleId>
              </a:tblPr>
              <a:tblGrid>
                <a:gridCol w="2988232">
                  <a:extLst>
                    <a:ext uri="{9D8B030D-6E8A-4147-A177-3AD203B41FA5}">
                      <a16:colId xmlns:a16="http://schemas.microsoft.com/office/drawing/2014/main" val="3324871321"/>
                    </a:ext>
                  </a:extLst>
                </a:gridCol>
                <a:gridCol w="2988232">
                  <a:extLst>
                    <a:ext uri="{9D8B030D-6E8A-4147-A177-3AD203B41FA5}">
                      <a16:colId xmlns:a16="http://schemas.microsoft.com/office/drawing/2014/main" val="1683521628"/>
                    </a:ext>
                  </a:extLst>
                </a:gridCol>
                <a:gridCol w="2988232">
                  <a:extLst>
                    <a:ext uri="{9D8B030D-6E8A-4147-A177-3AD203B41FA5}">
                      <a16:colId xmlns:a16="http://schemas.microsoft.com/office/drawing/2014/main" val="319471631"/>
                    </a:ext>
                  </a:extLst>
                </a:gridCol>
                <a:gridCol w="2988232">
                  <a:extLst>
                    <a:ext uri="{9D8B030D-6E8A-4147-A177-3AD203B41FA5}">
                      <a16:colId xmlns:a16="http://schemas.microsoft.com/office/drawing/2014/main" val="2771761532"/>
                    </a:ext>
                  </a:extLst>
                </a:gridCol>
              </a:tblGrid>
              <a:tr h="1338897">
                <a:tc>
                  <a:txBody>
                    <a:bodyPr/>
                    <a:lstStyle/>
                    <a:p>
                      <a:pPr marL="63500" algn="ctr" rtl="0" fontAlgn="t">
                        <a:spcBef>
                          <a:spcPts val="1200"/>
                        </a:spcBef>
                        <a:buNone/>
                      </a:pPr>
                      <a:r>
                        <a:rPr lang="en-US" sz="2000" b="1" i="0" u="none" strike="noStrike" dirty="0">
                          <a:solidFill>
                            <a:srgbClr val="000000"/>
                          </a:solidFill>
                          <a:effectLst/>
                          <a:latin typeface="Times New Roman" panose="02020603050405020304" pitchFamily="18" charset="0"/>
                        </a:rPr>
                        <a:t>Facility Name</a:t>
                      </a:r>
                      <a:endParaRPr lang="en-US" sz="2000" dirty="0">
                        <a:effectLst/>
                      </a:endParaRPr>
                    </a:p>
                  </a:txBody>
                  <a:tcPr marL="63500" marR="63500">
                    <a:solidFill>
                      <a:schemeClr val="accent2">
                        <a:lumMod val="40000"/>
                        <a:lumOff val="60000"/>
                      </a:schemeClr>
                    </a:solidFill>
                  </a:tcPr>
                </a:tc>
                <a:tc>
                  <a:txBody>
                    <a:bodyPr/>
                    <a:lstStyle/>
                    <a:p>
                      <a:pPr marL="63500" algn="ctr" rtl="0" fontAlgn="t">
                        <a:spcBef>
                          <a:spcPts val="1200"/>
                        </a:spcBef>
                        <a:buNone/>
                      </a:pPr>
                      <a:r>
                        <a:rPr lang="en-US" sz="2000" b="1" i="0" u="none" strike="noStrike">
                          <a:solidFill>
                            <a:srgbClr val="000000"/>
                          </a:solidFill>
                          <a:effectLst/>
                          <a:latin typeface="Times New Roman" panose="02020603050405020304" pitchFamily="18" charset="0"/>
                        </a:rPr>
                        <a:t>Districts</a:t>
                      </a:r>
                      <a:endParaRPr lang="en-US" sz="2000">
                        <a:effectLst/>
                      </a:endParaRPr>
                    </a:p>
                  </a:txBody>
                  <a:tcPr marL="63500" marR="63500">
                    <a:solidFill>
                      <a:schemeClr val="accent2">
                        <a:lumMod val="40000"/>
                        <a:lumOff val="60000"/>
                      </a:schemeClr>
                    </a:solidFill>
                  </a:tcPr>
                </a:tc>
                <a:tc>
                  <a:txBody>
                    <a:bodyPr/>
                    <a:lstStyle/>
                    <a:p>
                      <a:pPr marL="63500" algn="ctr" rtl="0" fontAlgn="t">
                        <a:spcBef>
                          <a:spcPts val="1200"/>
                        </a:spcBef>
                        <a:buNone/>
                      </a:pPr>
                      <a:r>
                        <a:rPr lang="en-US" sz="2000" b="1" i="0" u="none" strike="noStrike">
                          <a:solidFill>
                            <a:srgbClr val="000000"/>
                          </a:solidFill>
                          <a:effectLst/>
                          <a:latin typeface="Times New Roman" panose="02020603050405020304" pitchFamily="18" charset="0"/>
                        </a:rPr>
                        <a:t>Zones</a:t>
                      </a:r>
                      <a:endParaRPr lang="en-US" sz="2000">
                        <a:effectLst/>
                      </a:endParaRPr>
                    </a:p>
                  </a:txBody>
                  <a:tcPr marL="63500" marR="63500">
                    <a:solidFill>
                      <a:schemeClr val="accent2">
                        <a:lumMod val="40000"/>
                        <a:lumOff val="60000"/>
                      </a:schemeClr>
                    </a:solidFill>
                  </a:tcPr>
                </a:tc>
                <a:tc>
                  <a:txBody>
                    <a:bodyPr/>
                    <a:lstStyle/>
                    <a:p>
                      <a:pPr marL="63500" algn="ctr" rtl="0" fontAlgn="t">
                        <a:spcBef>
                          <a:spcPts val="1200"/>
                        </a:spcBef>
                        <a:buNone/>
                      </a:pPr>
                      <a:r>
                        <a:rPr lang="en-US" sz="2000" b="1" i="0" u="none" strike="noStrike" dirty="0">
                          <a:solidFill>
                            <a:srgbClr val="000000"/>
                          </a:solidFill>
                          <a:effectLst/>
                          <a:latin typeface="Times New Roman" panose="02020603050405020304" pitchFamily="18" charset="0"/>
                        </a:rPr>
                        <a:t>No. of Interviewees per facility</a:t>
                      </a:r>
                      <a:endParaRPr lang="en-US" sz="2000" dirty="0">
                        <a:effectLst/>
                      </a:endParaRPr>
                    </a:p>
                  </a:txBody>
                  <a:tcPr marL="63500" marR="63500">
                    <a:solidFill>
                      <a:schemeClr val="accent2">
                        <a:lumMod val="40000"/>
                        <a:lumOff val="60000"/>
                      </a:schemeClr>
                    </a:solidFill>
                  </a:tcPr>
                </a:tc>
                <a:extLst>
                  <a:ext uri="{0D108BD9-81ED-4DB2-BD59-A6C34878D82A}">
                    <a16:rowId xmlns:a16="http://schemas.microsoft.com/office/drawing/2014/main" val="3400945044"/>
                  </a:ext>
                </a:extLst>
              </a:tr>
              <a:tr h="3323044">
                <a:tc>
                  <a:txBody>
                    <a:bodyPr/>
                    <a:lstStyle/>
                    <a:p>
                      <a:pPr marL="63500" algn="ctr" rtl="0" fontAlgn="t">
                        <a:spcBef>
                          <a:spcPts val="1200"/>
                        </a:spcBef>
                        <a:buNone/>
                      </a:pPr>
                      <a:r>
                        <a:rPr lang="en-US" sz="2000" b="0" i="0" u="none" strike="noStrike" dirty="0">
                          <a:solidFill>
                            <a:srgbClr val="000000"/>
                          </a:solidFill>
                          <a:effectLst/>
                          <a:latin typeface="Times New Roman" panose="02020603050405020304" pitchFamily="18" charset="0"/>
                        </a:rPr>
                        <a:t>Atua Government Hospital</a:t>
                      </a:r>
                      <a:endParaRPr lang="en-US" sz="2000" dirty="0">
                        <a:effectLst/>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anose="02020603050405020304" pitchFamily="18" charset="0"/>
                        </a:rPr>
                        <a:t>Manya-Krobo</a:t>
                      </a:r>
                      <a:endParaRPr lang="en-US" sz="2000" dirty="0">
                        <a:effectLst/>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anose="02020603050405020304" pitchFamily="18" charset="0"/>
                        </a:rPr>
                        <a:t>Northern</a:t>
                      </a:r>
                      <a:endParaRPr lang="en-US" sz="2000" dirty="0">
                        <a:effectLst/>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anose="02020603050405020304" pitchFamily="18" charset="0"/>
                        </a:rPr>
                        <a:t>3</a:t>
                      </a:r>
                      <a:endParaRPr lang="en-US" sz="2000" dirty="0">
                        <a:effectLst/>
                      </a:endParaRPr>
                    </a:p>
                  </a:txBody>
                  <a:tcPr marL="63500" marR="63500">
                    <a:solidFill>
                      <a:schemeClr val="accent2">
                        <a:lumMod val="20000"/>
                        <a:lumOff val="80000"/>
                      </a:schemeClr>
                    </a:solidFill>
                  </a:tcPr>
                </a:tc>
                <a:extLst>
                  <a:ext uri="{0D108BD9-81ED-4DB2-BD59-A6C34878D82A}">
                    <a16:rowId xmlns:a16="http://schemas.microsoft.com/office/drawing/2014/main" val="784932613"/>
                  </a:ext>
                </a:extLst>
              </a:tr>
            </a:tbl>
          </a:graphicData>
        </a:graphic>
      </p:graphicFrame>
      <p:sp>
        <p:nvSpPr>
          <p:cNvPr id="4" name="Slide Number Placeholder 3">
            <a:extLst>
              <a:ext uri="{FF2B5EF4-FFF2-40B4-BE49-F238E27FC236}">
                <a16:creationId xmlns:a16="http://schemas.microsoft.com/office/drawing/2014/main" id="{192412F0-3478-DE26-328A-8B28B57033C1}"/>
              </a:ext>
            </a:extLst>
          </p:cNvPr>
          <p:cNvSpPr>
            <a:spLocks noGrp="1"/>
          </p:cNvSpPr>
          <p:nvPr>
            <p:ph type="sldNum" sz="quarter" idx="12"/>
          </p:nvPr>
        </p:nvSpPr>
        <p:spPr/>
        <p:txBody>
          <a:bodyPr/>
          <a:lstStyle/>
          <a:p>
            <a:fld id="{F45D45EC-0DFD-44B6-8830-2C62377CF2F9}" type="slidenum">
              <a:rPr lang="en-US" smtClean="0"/>
              <a:pPr/>
              <a:t>7</a:t>
            </a:fld>
            <a:endParaRPr lang="en-US"/>
          </a:p>
        </p:txBody>
      </p:sp>
    </p:spTree>
    <p:extLst>
      <p:ext uri="{BB962C8B-B14F-4D97-AF65-F5344CB8AC3E}">
        <p14:creationId xmlns:p14="http://schemas.microsoft.com/office/powerpoint/2010/main" val="3613045467"/>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9721-009D-6A6F-51B8-1735D18B51B8}"/>
              </a:ext>
            </a:extLst>
          </p:cNvPr>
          <p:cNvSpPr>
            <a:spLocks noGrp="1"/>
          </p:cNvSpPr>
          <p:nvPr>
            <p:ph type="title"/>
          </p:nvPr>
        </p:nvSpPr>
        <p:spPr>
          <a:xfrm>
            <a:off x="0" y="1"/>
            <a:ext cx="12192000" cy="605647"/>
          </a:xfrm>
        </p:spPr>
        <p:txBody>
          <a:bodyPr/>
          <a:lstStyle/>
          <a:p>
            <a:r>
              <a:rPr lang="en-US" b="1" dirty="0">
                <a:latin typeface="Times New Roman" pitchFamily="18" charset="0"/>
                <a:cs typeface="Times New Roman" pitchFamily="18" charset="0"/>
              </a:rPr>
              <a:t>Sampled Districts</a:t>
            </a:r>
          </a:p>
        </p:txBody>
      </p:sp>
      <p:graphicFrame>
        <p:nvGraphicFramePr>
          <p:cNvPr id="5" name="Content Placeholder 4">
            <a:extLst>
              <a:ext uri="{FF2B5EF4-FFF2-40B4-BE49-F238E27FC236}">
                <a16:creationId xmlns:a16="http://schemas.microsoft.com/office/drawing/2014/main" id="{6ACD6302-5891-5DEC-608E-C56E5EFC3887}"/>
              </a:ext>
            </a:extLst>
          </p:cNvPr>
          <p:cNvGraphicFramePr>
            <a:graphicFrameLocks noGrp="1"/>
          </p:cNvGraphicFramePr>
          <p:nvPr>
            <p:ph idx="1"/>
            <p:extLst>
              <p:ext uri="{D42A27DB-BD31-4B8C-83A1-F6EECF244321}">
                <p14:modId xmlns:p14="http://schemas.microsoft.com/office/powerpoint/2010/main" val="3106268838"/>
              </p:ext>
            </p:extLst>
          </p:nvPr>
        </p:nvGraphicFramePr>
        <p:xfrm>
          <a:off x="119920" y="605648"/>
          <a:ext cx="11967919" cy="5705658"/>
        </p:xfrm>
        <a:graphic>
          <a:graphicData uri="http://schemas.openxmlformats.org/drawingml/2006/table">
            <a:tbl>
              <a:tblPr firstRow="1" bandRow="1">
                <a:tableStyleId>{5C22544A-7EE6-4342-B048-85BDC9FD1C3A}</a:tableStyleId>
              </a:tblPr>
              <a:tblGrid>
                <a:gridCol w="3958242">
                  <a:extLst>
                    <a:ext uri="{9D8B030D-6E8A-4147-A177-3AD203B41FA5}">
                      <a16:colId xmlns:a16="http://schemas.microsoft.com/office/drawing/2014/main" val="2078116796"/>
                    </a:ext>
                  </a:extLst>
                </a:gridCol>
                <a:gridCol w="2589779">
                  <a:extLst>
                    <a:ext uri="{9D8B030D-6E8A-4147-A177-3AD203B41FA5}">
                      <a16:colId xmlns:a16="http://schemas.microsoft.com/office/drawing/2014/main" val="2521940180"/>
                    </a:ext>
                  </a:extLst>
                </a:gridCol>
                <a:gridCol w="2427918">
                  <a:extLst>
                    <a:ext uri="{9D8B030D-6E8A-4147-A177-3AD203B41FA5}">
                      <a16:colId xmlns:a16="http://schemas.microsoft.com/office/drawing/2014/main" val="693942621"/>
                    </a:ext>
                  </a:extLst>
                </a:gridCol>
                <a:gridCol w="2991980">
                  <a:extLst>
                    <a:ext uri="{9D8B030D-6E8A-4147-A177-3AD203B41FA5}">
                      <a16:colId xmlns:a16="http://schemas.microsoft.com/office/drawing/2014/main" val="358684718"/>
                    </a:ext>
                  </a:extLst>
                </a:gridCol>
              </a:tblGrid>
              <a:tr h="679010">
                <a:tc>
                  <a:txBody>
                    <a:bodyPr/>
                    <a:lstStyle/>
                    <a:p>
                      <a:pPr marL="63500" algn="just" rtl="0" fontAlgn="t">
                        <a:spcBef>
                          <a:spcPts val="1200"/>
                        </a:spcBef>
                        <a:buNone/>
                      </a:pPr>
                      <a:r>
                        <a:rPr lang="en-US" sz="1800" b="1" i="0" u="none" strike="noStrike" dirty="0">
                          <a:solidFill>
                            <a:srgbClr val="000000"/>
                          </a:solidFill>
                          <a:effectLst/>
                          <a:latin typeface="Times New Roman" pitchFamily="18" charset="0"/>
                          <a:cs typeface="Times New Roman" pitchFamily="18" charset="0"/>
                        </a:rPr>
                        <a:t>Facility Name</a:t>
                      </a:r>
                      <a:endParaRPr lang="en-US" sz="1800" dirty="0">
                        <a:effectLst/>
                        <a:latin typeface="Times New Roman" pitchFamily="18" charset="0"/>
                        <a:cs typeface="Times New Roman" pitchFamily="18" charset="0"/>
                      </a:endParaRPr>
                    </a:p>
                  </a:txBody>
                  <a:tcPr marL="63500" marR="63500">
                    <a:solidFill>
                      <a:schemeClr val="accent2">
                        <a:lumMod val="40000"/>
                        <a:lumOff val="60000"/>
                      </a:schemeClr>
                    </a:solidFill>
                  </a:tcPr>
                </a:tc>
                <a:tc>
                  <a:txBody>
                    <a:bodyPr/>
                    <a:lstStyle/>
                    <a:p>
                      <a:pPr marL="63500" algn="just" rtl="0" fontAlgn="t">
                        <a:spcBef>
                          <a:spcPts val="1200"/>
                        </a:spcBef>
                        <a:buNone/>
                      </a:pPr>
                      <a:r>
                        <a:rPr lang="en-US" sz="1800" b="1" i="0" u="none" strike="noStrike" dirty="0">
                          <a:solidFill>
                            <a:srgbClr val="000000"/>
                          </a:solidFill>
                          <a:effectLst/>
                          <a:latin typeface="Times New Roman" pitchFamily="18" charset="0"/>
                          <a:cs typeface="Times New Roman" pitchFamily="18" charset="0"/>
                        </a:rPr>
                        <a:t>Districts</a:t>
                      </a:r>
                      <a:endParaRPr lang="en-US" sz="1800" dirty="0">
                        <a:effectLst/>
                        <a:latin typeface="Times New Roman" pitchFamily="18" charset="0"/>
                        <a:cs typeface="Times New Roman" pitchFamily="18" charset="0"/>
                      </a:endParaRPr>
                    </a:p>
                  </a:txBody>
                  <a:tcPr marL="63500" marR="63500">
                    <a:solidFill>
                      <a:schemeClr val="accent2">
                        <a:lumMod val="40000"/>
                        <a:lumOff val="60000"/>
                      </a:schemeClr>
                    </a:solidFill>
                  </a:tcPr>
                </a:tc>
                <a:tc>
                  <a:txBody>
                    <a:bodyPr/>
                    <a:lstStyle/>
                    <a:p>
                      <a:pPr marL="63500" algn="just" rtl="0" fontAlgn="t">
                        <a:spcBef>
                          <a:spcPts val="1200"/>
                        </a:spcBef>
                        <a:buNone/>
                      </a:pPr>
                      <a:r>
                        <a:rPr lang="en-US" sz="1800" b="1" i="0" u="none" strike="noStrike" dirty="0">
                          <a:solidFill>
                            <a:srgbClr val="000000"/>
                          </a:solidFill>
                          <a:effectLst/>
                          <a:latin typeface="Times New Roman" pitchFamily="18" charset="0"/>
                          <a:cs typeface="Times New Roman" pitchFamily="18" charset="0"/>
                        </a:rPr>
                        <a:t>Zones</a:t>
                      </a:r>
                      <a:endParaRPr lang="en-US" sz="1800" dirty="0">
                        <a:effectLst/>
                        <a:latin typeface="Times New Roman" pitchFamily="18" charset="0"/>
                        <a:cs typeface="Times New Roman" pitchFamily="18" charset="0"/>
                      </a:endParaRPr>
                    </a:p>
                  </a:txBody>
                  <a:tcPr marL="63500" marR="63500">
                    <a:solidFill>
                      <a:schemeClr val="accent2">
                        <a:lumMod val="40000"/>
                        <a:lumOff val="60000"/>
                      </a:schemeClr>
                    </a:solidFill>
                  </a:tcPr>
                </a:tc>
                <a:tc>
                  <a:txBody>
                    <a:bodyPr/>
                    <a:lstStyle/>
                    <a:p>
                      <a:pPr marL="63500" algn="just" rtl="0" fontAlgn="t">
                        <a:spcBef>
                          <a:spcPts val="1200"/>
                        </a:spcBef>
                        <a:buNone/>
                      </a:pPr>
                      <a:r>
                        <a:rPr lang="en-US" sz="1800" b="1" i="0" u="none" strike="noStrike" dirty="0">
                          <a:solidFill>
                            <a:srgbClr val="000000"/>
                          </a:solidFill>
                          <a:effectLst/>
                          <a:latin typeface="Times New Roman" pitchFamily="18" charset="0"/>
                          <a:cs typeface="Times New Roman" pitchFamily="18" charset="0"/>
                        </a:rPr>
                        <a:t>No. of Interviewees per facility</a:t>
                      </a:r>
                      <a:endParaRPr lang="en-US" sz="1800" dirty="0">
                        <a:effectLst/>
                        <a:latin typeface="Times New Roman" pitchFamily="18" charset="0"/>
                        <a:cs typeface="Times New Roman" pitchFamily="18" charset="0"/>
                      </a:endParaRPr>
                    </a:p>
                  </a:txBody>
                  <a:tcPr marL="63500" marR="63500">
                    <a:solidFill>
                      <a:schemeClr val="accent2">
                        <a:lumMod val="40000"/>
                        <a:lumOff val="60000"/>
                      </a:schemeClr>
                    </a:solidFill>
                  </a:tcPr>
                </a:tc>
                <a:extLst>
                  <a:ext uri="{0D108BD9-81ED-4DB2-BD59-A6C34878D82A}">
                    <a16:rowId xmlns:a16="http://schemas.microsoft.com/office/drawing/2014/main" val="3455862368"/>
                  </a:ext>
                </a:extLst>
              </a:tr>
              <a:tr h="664118">
                <a:tc>
                  <a:txBody>
                    <a:bodyPr/>
                    <a:lstStyle/>
                    <a:p>
                      <a:pPr marL="63500" algn="just"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Eastern Regional Hospital, Koforidua</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New </a:t>
                      </a:r>
                      <a:r>
                        <a:rPr lang="en-US" sz="2000" b="0" i="0" u="none" strike="noStrike" dirty="0" err="1">
                          <a:solidFill>
                            <a:srgbClr val="000000"/>
                          </a:solidFill>
                          <a:effectLst/>
                          <a:latin typeface="Times New Roman" pitchFamily="18" charset="0"/>
                          <a:cs typeface="Times New Roman" pitchFamily="18" charset="0"/>
                        </a:rPr>
                        <a:t>Juaben</a:t>
                      </a:r>
                      <a:r>
                        <a:rPr lang="en-US" sz="2000" b="0" i="0" u="none" strike="noStrike" dirty="0">
                          <a:solidFill>
                            <a:srgbClr val="000000"/>
                          </a:solidFill>
                          <a:effectLst/>
                          <a:latin typeface="Times New Roman" pitchFamily="18" charset="0"/>
                          <a:cs typeface="Times New Roman" pitchFamily="18" charset="0"/>
                        </a:rPr>
                        <a:t> South</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a:solidFill>
                            <a:srgbClr val="000000"/>
                          </a:solidFill>
                          <a:effectLst/>
                          <a:latin typeface="Times New Roman" pitchFamily="18" charset="0"/>
                          <a:cs typeface="Times New Roman" pitchFamily="18" charset="0"/>
                        </a:rPr>
                        <a:t>Southern</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a:solidFill>
                            <a:srgbClr val="000000"/>
                          </a:solidFill>
                          <a:effectLst/>
                          <a:latin typeface="Times New Roman" pitchFamily="18" charset="0"/>
                          <a:cs typeface="Times New Roman" pitchFamily="18" charset="0"/>
                        </a:rPr>
                        <a:t>3</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1479124805"/>
                  </a:ext>
                </a:extLst>
              </a:tr>
              <a:tr h="453071">
                <a:tc>
                  <a:txBody>
                    <a:bodyPr/>
                    <a:lstStyle/>
                    <a:p>
                      <a:pPr marL="63500" algn="just"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Nsawam Government Hospital</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Nsawam-Adoagyiri</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Southern</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3471564880"/>
                  </a:ext>
                </a:extLst>
              </a:tr>
              <a:tr h="453071">
                <a:tc>
                  <a:txBody>
                    <a:bodyPr/>
                    <a:lstStyle/>
                    <a:p>
                      <a:pPr marL="63500" algn="just"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Oda Government Hospital</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dirty="0" err="1">
                          <a:solidFill>
                            <a:srgbClr val="000000"/>
                          </a:solidFill>
                          <a:effectLst/>
                          <a:latin typeface="Times New Roman" pitchFamily="18" charset="0"/>
                          <a:cs typeface="Times New Roman" pitchFamily="18" charset="0"/>
                        </a:rPr>
                        <a:t>Birim</a:t>
                      </a:r>
                      <a:r>
                        <a:rPr lang="en-US" sz="2000" b="0" i="0" u="none" strike="noStrike" dirty="0">
                          <a:solidFill>
                            <a:srgbClr val="000000"/>
                          </a:solidFill>
                          <a:effectLst/>
                          <a:latin typeface="Times New Roman" pitchFamily="18" charset="0"/>
                          <a:cs typeface="Times New Roman" pitchFamily="18" charset="0"/>
                        </a:rPr>
                        <a:t> Central</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Southern</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a:solidFill>
                            <a:srgbClr val="000000"/>
                          </a:solidFill>
                          <a:effectLst/>
                          <a:latin typeface="Times New Roman" pitchFamily="18" charset="0"/>
                          <a:cs typeface="Times New Roman" pitchFamily="18" charset="0"/>
                        </a:rPr>
                        <a:t>3</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2489784675"/>
                  </a:ext>
                </a:extLst>
              </a:tr>
              <a:tr h="453071">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Asesewa Government Hospital</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Upper Manya-Krobo</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a:solidFill>
                            <a:srgbClr val="000000"/>
                          </a:solidFill>
                          <a:effectLst/>
                          <a:latin typeface="Times New Roman" pitchFamily="18" charset="0"/>
                          <a:cs typeface="Times New Roman" pitchFamily="18" charset="0"/>
                        </a:rPr>
                        <a:t>Northern</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a:solidFill>
                            <a:srgbClr val="000000"/>
                          </a:solidFill>
                          <a:effectLst/>
                          <a:latin typeface="Times New Roman" pitchFamily="18" charset="0"/>
                          <a:cs typeface="Times New Roman" pitchFamily="18" charset="0"/>
                        </a:rPr>
                        <a:t>3</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4280466654"/>
                  </a:ext>
                </a:extLst>
              </a:tr>
              <a:tr h="453071">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Kwahu Government Hospital</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Kwahu South</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Northern</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3068681858"/>
                  </a:ext>
                </a:extLst>
              </a:tr>
              <a:tr h="453071">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Enyiresi Government Hospital</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dirty="0" err="1">
                          <a:solidFill>
                            <a:srgbClr val="000000"/>
                          </a:solidFill>
                          <a:effectLst/>
                          <a:latin typeface="Times New Roman" pitchFamily="18" charset="0"/>
                          <a:cs typeface="Times New Roman" pitchFamily="18" charset="0"/>
                        </a:rPr>
                        <a:t>Atiwa</a:t>
                      </a:r>
                      <a:r>
                        <a:rPr lang="en-US" sz="2000" b="0" i="0" u="none" strike="noStrike" dirty="0">
                          <a:solidFill>
                            <a:srgbClr val="000000"/>
                          </a:solidFill>
                          <a:effectLst/>
                          <a:latin typeface="Times New Roman" pitchFamily="18" charset="0"/>
                          <a:cs typeface="Times New Roman" pitchFamily="18" charset="0"/>
                        </a:rPr>
                        <a:t> East</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Northern</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3701826792"/>
                  </a:ext>
                </a:extLst>
              </a:tr>
              <a:tr h="453071">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Kibi Government Hospital</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Abuakwa South</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Middle</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1495019498"/>
                  </a:ext>
                </a:extLst>
              </a:tr>
              <a:tr h="679010">
                <a:tc>
                  <a:txBody>
                    <a:bodyPr/>
                    <a:lstStyle/>
                    <a:p>
                      <a:pPr marL="63500" algn="just" rtl="0" fontAlgn="t">
                        <a:spcBef>
                          <a:spcPts val="1200"/>
                        </a:spcBef>
                        <a:buNone/>
                      </a:pPr>
                      <a:r>
                        <a:rPr lang="pt-BR" sz="2000" b="0" i="0" u="none" strike="noStrike" dirty="0">
                          <a:solidFill>
                            <a:srgbClr val="000000"/>
                          </a:solidFill>
                          <a:effectLst/>
                          <a:latin typeface="Times New Roman" pitchFamily="18" charset="0"/>
                          <a:cs typeface="Times New Roman" pitchFamily="18" charset="0"/>
                        </a:rPr>
                        <a:t>Yilo Krobo Municipal Hospital(Somanya)</a:t>
                      </a:r>
                      <a:endParaRPr lang="pt-BR"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Yilo-Krobo</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Middle</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1412816130"/>
                  </a:ext>
                </a:extLst>
              </a:tr>
              <a:tr h="453071">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Kade Government Hospital</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just" rtl="0" fontAlgn="t">
                        <a:spcBef>
                          <a:spcPts val="1200"/>
                        </a:spcBef>
                        <a:buNone/>
                      </a:pPr>
                      <a:r>
                        <a:rPr lang="en-US" sz="2000" b="0" i="0" u="none" strike="noStrike">
                          <a:solidFill>
                            <a:srgbClr val="000000"/>
                          </a:solidFill>
                          <a:effectLst/>
                          <a:latin typeface="Times New Roman" pitchFamily="18" charset="0"/>
                          <a:cs typeface="Times New Roman" pitchFamily="18" charset="0"/>
                        </a:rPr>
                        <a:t>Kwaebibirem</a:t>
                      </a:r>
                      <a:endParaRPr lang="en-US" sz="200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Middle</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tc>
                  <a:txBody>
                    <a:bodyPr/>
                    <a:lstStyle/>
                    <a:p>
                      <a:pPr marL="63500" algn="ctr" rtl="0" fontAlgn="t">
                        <a:spcBef>
                          <a:spcPts val="1200"/>
                        </a:spcBef>
                        <a:buNone/>
                      </a:pPr>
                      <a:r>
                        <a:rPr lang="en-US" sz="2000" b="0" i="0" u="none" strike="noStrike" dirty="0">
                          <a:solidFill>
                            <a:srgbClr val="000000"/>
                          </a:solidFill>
                          <a:effectLst/>
                          <a:latin typeface="Times New Roman" pitchFamily="18" charset="0"/>
                          <a:cs typeface="Times New Roman" pitchFamily="18" charset="0"/>
                        </a:rPr>
                        <a:t>3</a:t>
                      </a:r>
                      <a:endParaRPr lang="en-US" sz="2000" dirty="0">
                        <a:effectLst/>
                        <a:latin typeface="Times New Roman" pitchFamily="18" charset="0"/>
                        <a:cs typeface="Times New Roman" pitchFamily="18" charset="0"/>
                      </a:endParaRPr>
                    </a:p>
                  </a:txBody>
                  <a:tcPr marL="63500" marR="63500">
                    <a:solidFill>
                      <a:schemeClr val="accent2">
                        <a:lumMod val="20000"/>
                        <a:lumOff val="80000"/>
                      </a:schemeClr>
                    </a:solidFill>
                  </a:tcPr>
                </a:tc>
                <a:extLst>
                  <a:ext uri="{0D108BD9-81ED-4DB2-BD59-A6C34878D82A}">
                    <a16:rowId xmlns:a16="http://schemas.microsoft.com/office/drawing/2014/main" val="3043338969"/>
                  </a:ext>
                </a:extLst>
              </a:tr>
              <a:tr h="453071">
                <a:tc>
                  <a:txBody>
                    <a:bodyPr/>
                    <a:lstStyle/>
                    <a:p>
                      <a:pPr marL="63500" algn="ctr" rtl="0" fontAlgn="b">
                        <a:spcBef>
                          <a:spcPts val="1200"/>
                        </a:spcBef>
                        <a:buNone/>
                      </a:pPr>
                      <a:r>
                        <a:rPr lang="en-US" sz="2000" b="1" i="0" u="none" strike="noStrike">
                          <a:solidFill>
                            <a:srgbClr val="000000"/>
                          </a:solidFill>
                          <a:effectLst/>
                          <a:latin typeface="Times New Roman" pitchFamily="18" charset="0"/>
                          <a:cs typeface="Times New Roman" pitchFamily="18" charset="0"/>
                        </a:rPr>
                        <a:t>Total</a:t>
                      </a:r>
                      <a:endParaRPr lang="en-US" sz="2000">
                        <a:effectLst/>
                        <a:latin typeface="Times New Roman" pitchFamily="18" charset="0"/>
                        <a:cs typeface="Times New Roman" pitchFamily="18" charset="0"/>
                      </a:endParaRPr>
                    </a:p>
                  </a:txBody>
                  <a:tcPr marL="63500" marR="63500" anchor="b">
                    <a:solidFill>
                      <a:schemeClr val="accent2">
                        <a:lumMod val="20000"/>
                        <a:lumOff val="80000"/>
                      </a:schemeClr>
                    </a:solidFill>
                  </a:tcPr>
                </a:tc>
                <a:tc>
                  <a:txBody>
                    <a:bodyPr/>
                    <a:lstStyle/>
                    <a:p>
                      <a:pPr marL="63500" algn="ctr" rtl="0" fontAlgn="b">
                        <a:spcBef>
                          <a:spcPts val="1200"/>
                        </a:spcBef>
                        <a:buNone/>
                      </a:pPr>
                      <a:r>
                        <a:rPr lang="en-US" sz="2000" b="1" i="0" u="none" strike="noStrike">
                          <a:solidFill>
                            <a:srgbClr val="000000"/>
                          </a:solidFill>
                          <a:effectLst/>
                          <a:latin typeface="Times New Roman" pitchFamily="18" charset="0"/>
                          <a:cs typeface="Times New Roman" pitchFamily="18" charset="0"/>
                        </a:rPr>
                        <a:t>9</a:t>
                      </a:r>
                      <a:endParaRPr lang="en-US" sz="2000">
                        <a:effectLst/>
                        <a:latin typeface="Times New Roman" pitchFamily="18" charset="0"/>
                        <a:cs typeface="Times New Roman" pitchFamily="18" charset="0"/>
                      </a:endParaRPr>
                    </a:p>
                  </a:txBody>
                  <a:tcPr marL="63500" marR="63500" anchor="b">
                    <a:solidFill>
                      <a:schemeClr val="accent2">
                        <a:lumMod val="20000"/>
                        <a:lumOff val="80000"/>
                      </a:schemeClr>
                    </a:solidFill>
                  </a:tcPr>
                </a:tc>
                <a:tc>
                  <a:txBody>
                    <a:bodyPr/>
                    <a:lstStyle/>
                    <a:p>
                      <a:pPr marL="63500" algn="ctr" rtl="0" fontAlgn="b">
                        <a:spcBef>
                          <a:spcPts val="1200"/>
                        </a:spcBef>
                        <a:buNone/>
                      </a:pPr>
                      <a:r>
                        <a:rPr lang="en-US" sz="2000" b="1" i="0" u="none" strike="noStrike">
                          <a:solidFill>
                            <a:srgbClr val="000000"/>
                          </a:solidFill>
                          <a:effectLst/>
                          <a:latin typeface="Times New Roman" pitchFamily="18" charset="0"/>
                          <a:cs typeface="Times New Roman" pitchFamily="18" charset="0"/>
                        </a:rPr>
                        <a:t> </a:t>
                      </a:r>
                      <a:endParaRPr lang="en-US" sz="2000">
                        <a:effectLst/>
                        <a:latin typeface="Times New Roman" pitchFamily="18" charset="0"/>
                        <a:cs typeface="Times New Roman" pitchFamily="18" charset="0"/>
                      </a:endParaRPr>
                    </a:p>
                  </a:txBody>
                  <a:tcPr marL="63500" marR="63500" anchor="b">
                    <a:solidFill>
                      <a:schemeClr val="accent2">
                        <a:lumMod val="20000"/>
                        <a:lumOff val="80000"/>
                      </a:schemeClr>
                    </a:solidFill>
                  </a:tcPr>
                </a:tc>
                <a:tc>
                  <a:txBody>
                    <a:bodyPr/>
                    <a:lstStyle/>
                    <a:p>
                      <a:pPr marL="63500" algn="ctr" rtl="0" fontAlgn="b">
                        <a:spcBef>
                          <a:spcPts val="1200"/>
                        </a:spcBef>
                        <a:buNone/>
                      </a:pPr>
                      <a:r>
                        <a:rPr lang="en-US" sz="2000" b="1" i="0" u="none" strike="noStrike" dirty="0">
                          <a:solidFill>
                            <a:srgbClr val="000000"/>
                          </a:solidFill>
                          <a:effectLst/>
                          <a:latin typeface="Times New Roman" pitchFamily="18" charset="0"/>
                          <a:cs typeface="Times New Roman" pitchFamily="18" charset="0"/>
                        </a:rPr>
                        <a:t>27</a:t>
                      </a:r>
                      <a:endParaRPr lang="en-US" sz="2000" dirty="0">
                        <a:effectLst/>
                        <a:latin typeface="Times New Roman" pitchFamily="18" charset="0"/>
                        <a:cs typeface="Times New Roman" pitchFamily="18" charset="0"/>
                      </a:endParaRPr>
                    </a:p>
                  </a:txBody>
                  <a:tcPr marL="63500" marR="63500" anchor="b">
                    <a:solidFill>
                      <a:schemeClr val="accent2">
                        <a:lumMod val="20000"/>
                        <a:lumOff val="80000"/>
                      </a:schemeClr>
                    </a:solidFill>
                  </a:tcPr>
                </a:tc>
                <a:extLst>
                  <a:ext uri="{0D108BD9-81ED-4DB2-BD59-A6C34878D82A}">
                    <a16:rowId xmlns:a16="http://schemas.microsoft.com/office/drawing/2014/main" val="3115704040"/>
                  </a:ext>
                </a:extLst>
              </a:tr>
            </a:tbl>
          </a:graphicData>
        </a:graphic>
      </p:graphicFrame>
      <p:sp>
        <p:nvSpPr>
          <p:cNvPr id="4" name="Slide Number Placeholder 3">
            <a:extLst>
              <a:ext uri="{FF2B5EF4-FFF2-40B4-BE49-F238E27FC236}">
                <a16:creationId xmlns:a16="http://schemas.microsoft.com/office/drawing/2014/main" id="{4501A5A9-E374-174C-EE1B-35E5BF38DEB9}"/>
              </a:ext>
            </a:extLst>
          </p:cNvPr>
          <p:cNvSpPr>
            <a:spLocks noGrp="1"/>
          </p:cNvSpPr>
          <p:nvPr>
            <p:ph type="sldNum" sz="quarter" idx="12"/>
          </p:nvPr>
        </p:nvSpPr>
        <p:spPr/>
        <p:txBody>
          <a:bodyPr/>
          <a:lstStyle/>
          <a:p>
            <a:fld id="{F45D45EC-0DFD-44B6-8830-2C62377CF2F9}" type="slidenum">
              <a:rPr lang="en-US" smtClean="0"/>
              <a:pPr/>
              <a:t>8</a:t>
            </a:fld>
            <a:endParaRPr lang="en-US"/>
          </a:p>
        </p:txBody>
      </p:sp>
    </p:spTree>
    <p:extLst>
      <p:ext uri="{BB962C8B-B14F-4D97-AF65-F5344CB8AC3E}">
        <p14:creationId xmlns:p14="http://schemas.microsoft.com/office/powerpoint/2010/main" val="131761913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12EE-0956-9E39-6D2D-22C875BA713C}"/>
              </a:ext>
            </a:extLst>
          </p:cNvPr>
          <p:cNvSpPr>
            <a:spLocks noGrp="1"/>
          </p:cNvSpPr>
          <p:nvPr>
            <p:ph type="title"/>
          </p:nvPr>
        </p:nvSpPr>
        <p:spPr/>
        <p:txBody>
          <a:bodyPr/>
          <a:lstStyle/>
          <a:p>
            <a:r>
              <a:rPr lang="en-US" b="1" dirty="0">
                <a:latin typeface="Times New Roman" pitchFamily="18" charset="0"/>
                <a:cs typeface="Times New Roman" pitchFamily="18" charset="0"/>
              </a:rPr>
              <a:t>RESULTS </a:t>
            </a:r>
          </a:p>
        </p:txBody>
      </p:sp>
      <p:graphicFrame>
        <p:nvGraphicFramePr>
          <p:cNvPr id="5" name="Content Placeholder 4">
            <a:extLst>
              <a:ext uri="{FF2B5EF4-FFF2-40B4-BE49-F238E27FC236}">
                <a16:creationId xmlns:a16="http://schemas.microsoft.com/office/drawing/2014/main" id="{D4F73523-FDE5-D816-374E-6A5137F6A065}"/>
              </a:ext>
            </a:extLst>
          </p:cNvPr>
          <p:cNvGraphicFramePr>
            <a:graphicFrameLocks noGrp="1"/>
          </p:cNvGraphicFramePr>
          <p:nvPr>
            <p:ph idx="1"/>
            <p:extLst>
              <p:ext uri="{D42A27DB-BD31-4B8C-83A1-F6EECF244321}">
                <p14:modId xmlns:p14="http://schemas.microsoft.com/office/powerpoint/2010/main" val="3565023417"/>
              </p:ext>
            </p:extLst>
          </p:nvPr>
        </p:nvGraphicFramePr>
        <p:xfrm>
          <a:off x="149903" y="1364105"/>
          <a:ext cx="11937936" cy="4736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895F7C68-5B34-939D-B92F-BEE3D2B37E4C}"/>
              </a:ext>
            </a:extLst>
          </p:cNvPr>
          <p:cNvSpPr>
            <a:spLocks noGrp="1"/>
          </p:cNvSpPr>
          <p:nvPr>
            <p:ph type="sldNum" sz="quarter" idx="12"/>
          </p:nvPr>
        </p:nvSpPr>
        <p:spPr/>
        <p:txBody>
          <a:bodyPr/>
          <a:lstStyle/>
          <a:p>
            <a:fld id="{F45D45EC-0DFD-44B6-8830-2C62377CF2F9}" type="slidenum">
              <a:rPr lang="en-US" smtClean="0"/>
              <a:pPr/>
              <a:t>9</a:t>
            </a:fld>
            <a:endParaRPr lang="en-US"/>
          </a:p>
        </p:txBody>
      </p:sp>
    </p:spTree>
    <p:extLst>
      <p:ext uri="{BB962C8B-B14F-4D97-AF65-F5344CB8AC3E}">
        <p14:creationId xmlns:p14="http://schemas.microsoft.com/office/powerpoint/2010/main" val="321407987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38373-20EB-C6C5-D29C-D95217BDAE59}"/>
              </a:ext>
            </a:extLst>
          </p:cNvPr>
          <p:cNvSpPr>
            <a:spLocks noGrp="1"/>
          </p:cNvSpPr>
          <p:nvPr>
            <p:ph type="title"/>
          </p:nvPr>
        </p:nvSpPr>
        <p:spPr/>
        <p:txBody>
          <a:bodyPr/>
          <a:lstStyle/>
          <a:p>
            <a:br>
              <a:rPr lang="en-US" b="1" dirty="0"/>
            </a:br>
            <a:r>
              <a:rPr lang="en-US" b="1" dirty="0">
                <a:latin typeface="Times New Roman" pitchFamily="18" charset="0"/>
                <a:cs typeface="Times New Roman" pitchFamily="18" charset="0"/>
              </a:rPr>
              <a:t>Results – Process Measures 1 </a:t>
            </a:r>
            <a:br>
              <a:rPr lang="en-US" dirty="0"/>
            </a:br>
            <a:endParaRPr lang="en-US" dirty="0"/>
          </a:p>
        </p:txBody>
      </p:sp>
      <p:sp>
        <p:nvSpPr>
          <p:cNvPr id="3" name="Content Placeholder 2">
            <a:extLst>
              <a:ext uri="{FF2B5EF4-FFF2-40B4-BE49-F238E27FC236}">
                <a16:creationId xmlns:a16="http://schemas.microsoft.com/office/drawing/2014/main" id="{5E7C89E4-C999-3736-25CD-D4B31E84AD3B}"/>
              </a:ext>
            </a:extLst>
          </p:cNvPr>
          <p:cNvSpPr>
            <a:spLocks noGrp="1"/>
          </p:cNvSpPr>
          <p:nvPr>
            <p:ph idx="1"/>
          </p:nvPr>
        </p:nvSpPr>
        <p:spPr>
          <a:xfrm>
            <a:off x="134911" y="1304143"/>
            <a:ext cx="11952928" cy="4796981"/>
          </a:xfrm>
        </p:spPr>
        <p:txBody>
          <a:bodyPr/>
          <a:lstStyle/>
          <a:p>
            <a:r>
              <a:rPr lang="en-US" sz="2400" b="1" dirty="0">
                <a:latin typeface="Times New Roman" pitchFamily="18" charset="0"/>
                <a:cs typeface="Times New Roman" pitchFamily="18" charset="0"/>
              </a:rPr>
              <a:t>Hybrid Error Detection</a:t>
            </a:r>
            <a:endParaRPr lang="en-US" sz="2400" dirty="0">
              <a:latin typeface="Times New Roman" pitchFamily="18" charset="0"/>
              <a:cs typeface="Times New Roman" pitchFamily="18" charset="0"/>
            </a:endParaRPr>
          </a:p>
          <a:p>
            <a:pPr lvl="1">
              <a:buFont typeface="Wingdings" panose="05000000000000000000" pitchFamily="2" charset="2"/>
              <a:buChar char="q"/>
            </a:pPr>
            <a:r>
              <a:rPr lang="en-US" sz="2400" dirty="0">
                <a:latin typeface="Times New Roman" pitchFamily="18" charset="0"/>
                <a:cs typeface="Times New Roman" pitchFamily="18" charset="0"/>
              </a:rPr>
              <a:t>LHIMS (digital) + manual checks </a:t>
            </a:r>
          </a:p>
          <a:p>
            <a:pPr marL="457200" lvl="1" indent="0">
              <a:buNone/>
            </a:pPr>
            <a:r>
              <a:rPr lang="en-US" dirty="0">
                <a:latin typeface="Times New Roman" pitchFamily="18" charset="0"/>
                <a:cs typeface="Times New Roman" pitchFamily="18" charset="0"/>
              </a:rPr>
              <a:t>"</a:t>
            </a:r>
            <a:r>
              <a:rPr lang="en-US" sz="2400" dirty="0">
                <a:solidFill>
                  <a:srgbClr val="FF0000"/>
                </a:solidFill>
                <a:latin typeface="Times New Roman" pitchFamily="18" charset="0"/>
                <a:cs typeface="Times New Roman" pitchFamily="18" charset="0"/>
              </a:rPr>
              <a:t>Using electronic prescribing has significantly reduced handwriting errors, but we still manually verify each order before dispensing" (P21). </a:t>
            </a:r>
          </a:p>
          <a:p>
            <a:pPr marL="457200" lvl="1" indent="0">
              <a:buNone/>
            </a:pPr>
            <a:endParaRPr lang="en-US" sz="2400" dirty="0">
              <a:solidFill>
                <a:srgbClr val="FF0000"/>
              </a:solidFill>
              <a:latin typeface="Times New Roman" pitchFamily="18" charset="0"/>
              <a:cs typeface="Times New Roman" pitchFamily="18" charset="0"/>
            </a:endParaRPr>
          </a:p>
          <a:p>
            <a:pPr lvl="1">
              <a:buFont typeface="Wingdings" panose="05000000000000000000" pitchFamily="2" charset="2"/>
              <a:buChar char="q"/>
            </a:pPr>
            <a:r>
              <a:rPr lang="en-US" dirty="0">
                <a:latin typeface="Times New Roman" pitchFamily="18" charset="0"/>
                <a:cs typeface="Times New Roman" pitchFamily="18" charset="0"/>
              </a:rPr>
              <a:t>Introduces inefficiencies into the error resolution process (2-hour resolution time per error).</a:t>
            </a:r>
          </a:p>
          <a:p>
            <a:pPr marL="457200" lvl="1" indent="0">
              <a:buNone/>
            </a:pPr>
            <a:r>
              <a:rPr lang="en-US" sz="2400" i="1" dirty="0">
                <a:solidFill>
                  <a:srgbClr val="FF0000"/>
                </a:solidFill>
                <a:latin typeface="Times New Roman" pitchFamily="18" charset="0"/>
                <a:cs typeface="Times New Roman" pitchFamily="18" charset="0"/>
              </a:rPr>
              <a:t>“We usually detect errors when preparing to issue medications. The entire process from the doctor writing the prescription to the correction can take one to two hours, depending on the pharmacy workflow." </a:t>
            </a:r>
            <a:r>
              <a:rPr lang="en-US" sz="2400" b="1" i="1" dirty="0">
                <a:solidFill>
                  <a:srgbClr val="FF0000"/>
                </a:solidFill>
                <a:latin typeface="Times New Roman" pitchFamily="18" charset="0"/>
                <a:cs typeface="Times New Roman" pitchFamily="18" charset="0"/>
              </a:rPr>
              <a:t>(P6)</a:t>
            </a:r>
            <a:endParaRPr lang="en-US" sz="2400" dirty="0">
              <a:solidFill>
                <a:srgbClr val="FF0000"/>
              </a:solidFill>
              <a:latin typeface="Times New Roman" pitchFamily="18" charset="0"/>
              <a:cs typeface="Times New Roman" pitchFamily="18" charset="0"/>
            </a:endParaRPr>
          </a:p>
          <a:p>
            <a:pPr>
              <a:buFont typeface="Wingdings" panose="05000000000000000000" pitchFamily="2" charset="2"/>
              <a:buChar char="q"/>
            </a:pPr>
            <a:endParaRPr lang="en-US" sz="2400" dirty="0">
              <a:solidFill>
                <a:srgbClr val="FF0000"/>
              </a:solidFill>
            </a:endParaRPr>
          </a:p>
          <a:p>
            <a:endParaRPr lang="en-US" dirty="0"/>
          </a:p>
          <a:p>
            <a:pPr lvl="1"/>
            <a:endParaRPr lang="en-US" sz="2400" dirty="0"/>
          </a:p>
          <a:p>
            <a:pPr marL="0" indent="0">
              <a:buNone/>
            </a:pPr>
            <a:endParaRPr lang="en-US" dirty="0"/>
          </a:p>
        </p:txBody>
      </p:sp>
      <p:sp>
        <p:nvSpPr>
          <p:cNvPr id="4" name="Slide Number Placeholder 3">
            <a:extLst>
              <a:ext uri="{FF2B5EF4-FFF2-40B4-BE49-F238E27FC236}">
                <a16:creationId xmlns:a16="http://schemas.microsoft.com/office/drawing/2014/main" id="{C25023AA-E6BB-D02D-02CB-0AF5367B26D8}"/>
              </a:ext>
            </a:extLst>
          </p:cNvPr>
          <p:cNvSpPr>
            <a:spLocks noGrp="1"/>
          </p:cNvSpPr>
          <p:nvPr>
            <p:ph type="sldNum" sz="quarter" idx="12"/>
          </p:nvPr>
        </p:nvSpPr>
        <p:spPr/>
        <p:txBody>
          <a:bodyPr/>
          <a:lstStyle/>
          <a:p>
            <a:fld id="{F45D45EC-0DFD-44B6-8830-2C62377CF2F9}" type="slidenum">
              <a:rPr lang="en-US" smtClean="0"/>
              <a:pPr/>
              <a:t>10</a:t>
            </a:fld>
            <a:endParaRPr lang="en-US"/>
          </a:p>
        </p:txBody>
      </p:sp>
    </p:spTree>
    <p:extLst>
      <p:ext uri="{BB962C8B-B14F-4D97-AF65-F5344CB8AC3E}">
        <p14:creationId xmlns:p14="http://schemas.microsoft.com/office/powerpoint/2010/main" val="2886096728"/>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5A35-DA1E-83B9-F4F5-FD1A5E0DF180}"/>
              </a:ext>
            </a:extLst>
          </p:cNvPr>
          <p:cNvSpPr>
            <a:spLocks noGrp="1"/>
          </p:cNvSpPr>
          <p:nvPr>
            <p:ph type="title"/>
          </p:nvPr>
        </p:nvSpPr>
        <p:spPr>
          <a:xfrm>
            <a:off x="499620" y="151694"/>
            <a:ext cx="11097293" cy="736875"/>
          </a:xfrm>
        </p:spPr>
        <p:txBody>
          <a:bodyPr/>
          <a:lstStyle/>
          <a:p>
            <a:r>
              <a:rPr lang="en-US" b="1" dirty="0">
                <a:latin typeface="Times New Roman" pitchFamily="18" charset="0"/>
                <a:cs typeface="Times New Roman" pitchFamily="18" charset="0"/>
              </a:rPr>
              <a:t>Results - Process Measures 2</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FCBFB8A-D1A0-84EF-AF97-8FCD438988B7}"/>
              </a:ext>
            </a:extLst>
          </p:cNvPr>
          <p:cNvSpPr>
            <a:spLocks noGrp="1"/>
          </p:cNvSpPr>
          <p:nvPr>
            <p:ph idx="1"/>
          </p:nvPr>
        </p:nvSpPr>
        <p:spPr>
          <a:xfrm>
            <a:off x="224852" y="888569"/>
            <a:ext cx="11737299" cy="5483482"/>
          </a:xfrm>
        </p:spPr>
        <p:txBody>
          <a:bodyPr/>
          <a:lstStyle/>
          <a:p>
            <a:r>
              <a:rPr lang="en-US" sz="2400" b="1" dirty="0">
                <a:latin typeface="Times New Roman" pitchFamily="18" charset="0"/>
                <a:cs typeface="Times New Roman" pitchFamily="18" charset="0"/>
              </a:rPr>
              <a:t>Underreporting Culture</a:t>
            </a:r>
          </a:p>
          <a:p>
            <a:pPr lvl="1">
              <a:buFont typeface="Wingdings" panose="05000000000000000000" pitchFamily="2" charset="2"/>
              <a:buChar char="q"/>
            </a:pPr>
            <a:r>
              <a:rPr lang="en-US" sz="2400" dirty="0">
                <a:latin typeface="Times New Roman" pitchFamily="18" charset="0"/>
                <a:cs typeface="Times New Roman" pitchFamily="18" charset="0"/>
              </a:rPr>
              <a:t>Fear of blame </a:t>
            </a:r>
          </a:p>
          <a:p>
            <a:pPr marL="457200" lvl="1" indent="0">
              <a:buNone/>
            </a:pPr>
            <a:r>
              <a:rPr lang="en-US" dirty="0">
                <a:latin typeface="Times New Roman" pitchFamily="18" charset="0"/>
                <a:cs typeface="Times New Roman" pitchFamily="18" charset="0"/>
              </a:rPr>
              <a:t>"</a:t>
            </a:r>
            <a:r>
              <a:rPr lang="en-US" sz="2400" i="1" dirty="0">
                <a:solidFill>
                  <a:srgbClr val="FF0000"/>
                </a:solidFill>
                <a:latin typeface="Times New Roman" pitchFamily="18" charset="0"/>
                <a:cs typeface="Times New Roman" pitchFamily="18" charset="0"/>
              </a:rPr>
              <a:t>My supervisor still asks 'who messed up?' rather than 'what failed?</a:t>
            </a:r>
            <a:r>
              <a:rPr lang="en-US" sz="2400" dirty="0">
                <a:solidFill>
                  <a:srgbClr val="FF0000"/>
                </a:solidFill>
                <a:latin typeface="Times New Roman" pitchFamily="18" charset="0"/>
                <a:cs typeface="Times New Roman" pitchFamily="18" charset="0"/>
              </a:rPr>
              <a:t>'" (P18).</a:t>
            </a:r>
          </a:p>
          <a:p>
            <a:pPr lvl="1">
              <a:buFont typeface="Wingdings" panose="05000000000000000000" pitchFamily="2" charset="2"/>
              <a:buChar char="q"/>
            </a:pPr>
            <a:r>
              <a:rPr lang="en-US" dirty="0">
                <a:latin typeface="Times New Roman" pitchFamily="18" charset="0"/>
                <a:cs typeface="Times New Roman" pitchFamily="18" charset="0"/>
              </a:rPr>
              <a:t>Hinderance by hierarchical communication barriers</a:t>
            </a:r>
            <a:r>
              <a:rPr lang="en-US" sz="2400" dirty="0">
                <a:solidFill>
                  <a:srgbClr val="FF0000"/>
                </a:solidFill>
                <a:latin typeface="Times New Roman" pitchFamily="18" charset="0"/>
                <a:cs typeface="Times New Roman" pitchFamily="18" charset="0"/>
              </a:rPr>
              <a:t> </a:t>
            </a:r>
          </a:p>
          <a:p>
            <a:pPr marL="457200" lvl="1" indent="0">
              <a:buNone/>
            </a:pPr>
            <a:r>
              <a:rPr lang="en-US" sz="2400" i="1" dirty="0">
                <a:solidFill>
                  <a:srgbClr val="FF0000"/>
                </a:solidFill>
                <a:latin typeface="Times New Roman" pitchFamily="18" charset="0"/>
                <a:cs typeface="Times New Roman" pitchFamily="18" charset="0"/>
              </a:rPr>
              <a:t>"There is fear that reporting errors might affect performance evaluations, so some staff choose to remain silent."(P22</a:t>
            </a:r>
            <a:r>
              <a:rPr lang="en-US" sz="2400" dirty="0">
                <a:solidFill>
                  <a:srgbClr val="FF0000"/>
                </a:solidFill>
                <a:latin typeface="Times New Roman" pitchFamily="18" charset="0"/>
                <a:cs typeface="Times New Roman" pitchFamily="18" charset="0"/>
              </a:rPr>
              <a:t>).</a:t>
            </a:r>
          </a:p>
          <a:p>
            <a:pPr lvl="1">
              <a:buFont typeface="Wingdings" panose="05000000000000000000" pitchFamily="2" charset="2"/>
              <a:buChar char="q"/>
            </a:pPr>
            <a:r>
              <a:rPr lang="en-US" sz="2400" dirty="0">
                <a:latin typeface="Times New Roman" pitchFamily="18" charset="0"/>
                <a:cs typeface="Times New Roman" pitchFamily="18" charset="0"/>
              </a:rPr>
              <a:t>Informal resolution</a:t>
            </a:r>
            <a:br>
              <a:rPr lang="en-US" sz="2400" dirty="0">
                <a:latin typeface="Times New Roman" pitchFamily="18" charset="0"/>
                <a:cs typeface="Times New Roman" pitchFamily="18" charset="0"/>
              </a:rPr>
            </a:br>
            <a:r>
              <a:rPr lang="en-US" i="1" dirty="0">
                <a:latin typeface="Times New Roman" pitchFamily="18" charset="0"/>
                <a:cs typeface="Times New Roman" pitchFamily="18" charset="0"/>
              </a:rPr>
              <a:t>“</a:t>
            </a:r>
            <a:r>
              <a:rPr lang="en-US" sz="2400" i="1" dirty="0">
                <a:solidFill>
                  <a:srgbClr val="FF0000"/>
                </a:solidFill>
                <a:latin typeface="Times New Roman" pitchFamily="18" charset="0"/>
                <a:cs typeface="Times New Roman" pitchFamily="18" charset="0"/>
              </a:rPr>
              <a:t>We do not have a standardized reporting system. Sometimes, minor errors are corrected immediately, but only life-threatening ones are documented</a:t>
            </a:r>
            <a:r>
              <a:rPr lang="en-US" sz="2400" dirty="0">
                <a:solidFill>
                  <a:srgbClr val="FF0000"/>
                </a:solidFill>
                <a:latin typeface="Times New Roman" pitchFamily="18" charset="0"/>
                <a:cs typeface="Times New Roman" pitchFamily="18" charset="0"/>
              </a:rPr>
              <a:t>.”(P14)</a:t>
            </a:r>
          </a:p>
          <a:p>
            <a:pPr lvl="1">
              <a:buFont typeface="Wingdings" panose="05000000000000000000" pitchFamily="2" charset="2"/>
              <a:buChar char="q"/>
            </a:pPr>
            <a:r>
              <a:rPr lang="en-US" dirty="0">
                <a:solidFill>
                  <a:schemeClr val="accent6">
                    <a:lumMod val="50000"/>
                  </a:schemeClr>
                </a:solidFill>
                <a:latin typeface="Times New Roman" pitchFamily="18" charset="0"/>
                <a:cs typeface="Times New Roman" pitchFamily="18" charset="0"/>
              </a:rPr>
              <a:t>Lack of </a:t>
            </a:r>
            <a:r>
              <a:rPr lang="en-US" dirty="0">
                <a:latin typeface="Times New Roman" pitchFamily="18" charset="0"/>
                <a:cs typeface="Times New Roman" pitchFamily="18" charset="0"/>
              </a:rPr>
              <a:t>patient-friendly reporting mechanisms.</a:t>
            </a:r>
          </a:p>
          <a:p>
            <a:pPr marL="457200" lvl="1" indent="0">
              <a:buNone/>
            </a:pPr>
            <a:r>
              <a:rPr lang="en-US" sz="2000" i="1" dirty="0">
                <a:latin typeface="Times New Roman" pitchFamily="18" charset="0"/>
                <a:cs typeface="Times New Roman" pitchFamily="18" charset="0"/>
              </a:rPr>
              <a:t>“</a:t>
            </a:r>
            <a:r>
              <a:rPr lang="en-US" sz="2000" i="1" dirty="0">
                <a:solidFill>
                  <a:srgbClr val="FF0000"/>
                </a:solidFill>
                <a:latin typeface="Times New Roman" pitchFamily="18" charset="0"/>
                <a:cs typeface="Times New Roman" pitchFamily="18" charset="0"/>
              </a:rPr>
              <a:t>Patients sometimes notice errors, like incorrect dosages, but they don’t know how to report </a:t>
            </a:r>
            <a:r>
              <a:rPr lang="en-US" sz="2000" i="1" dirty="0">
                <a:solidFill>
                  <a:srgbClr val="FF0000"/>
                </a:solidFill>
              </a:rPr>
              <a:t>them.”(P14), </a:t>
            </a:r>
          </a:p>
          <a:p>
            <a:endParaRPr lang="en-US" dirty="0"/>
          </a:p>
        </p:txBody>
      </p:sp>
      <p:sp>
        <p:nvSpPr>
          <p:cNvPr id="4" name="Slide Number Placeholder 3">
            <a:extLst>
              <a:ext uri="{FF2B5EF4-FFF2-40B4-BE49-F238E27FC236}">
                <a16:creationId xmlns:a16="http://schemas.microsoft.com/office/drawing/2014/main" id="{13C289E2-3AB1-BC3F-86EE-55F3ACAA8FC3}"/>
              </a:ext>
            </a:extLst>
          </p:cNvPr>
          <p:cNvSpPr>
            <a:spLocks noGrp="1"/>
          </p:cNvSpPr>
          <p:nvPr>
            <p:ph type="sldNum" sz="quarter" idx="12"/>
          </p:nvPr>
        </p:nvSpPr>
        <p:spPr/>
        <p:txBody>
          <a:bodyPr/>
          <a:lstStyle/>
          <a:p>
            <a:fld id="{F45D45EC-0DFD-44B6-8830-2C62377CF2F9}" type="slidenum">
              <a:rPr lang="en-US" smtClean="0"/>
              <a:pPr/>
              <a:t>11</a:t>
            </a:fld>
            <a:endParaRPr lang="en-US"/>
          </a:p>
        </p:txBody>
      </p:sp>
    </p:spTree>
    <p:extLst>
      <p:ext uri="{BB962C8B-B14F-4D97-AF65-F5344CB8AC3E}">
        <p14:creationId xmlns:p14="http://schemas.microsoft.com/office/powerpoint/2010/main" val="377857069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F6058-80FD-79F9-BE29-FE56C2D9A97E}"/>
              </a:ext>
            </a:extLst>
          </p:cNvPr>
          <p:cNvSpPr>
            <a:spLocks noGrp="1"/>
          </p:cNvSpPr>
          <p:nvPr>
            <p:ph type="title"/>
          </p:nvPr>
        </p:nvSpPr>
        <p:spPr/>
        <p:txBody>
          <a:bodyPr/>
          <a:lstStyle/>
          <a:p>
            <a:r>
              <a:rPr lang="en-US" b="1" dirty="0">
                <a:latin typeface="Times New Roman" pitchFamily="18" charset="0"/>
                <a:cs typeface="Times New Roman" pitchFamily="18" charset="0"/>
              </a:rPr>
              <a:t>Results- Systems Measures 1</a:t>
            </a:r>
          </a:p>
        </p:txBody>
      </p:sp>
      <p:sp>
        <p:nvSpPr>
          <p:cNvPr id="3" name="Content Placeholder 2">
            <a:extLst>
              <a:ext uri="{FF2B5EF4-FFF2-40B4-BE49-F238E27FC236}">
                <a16:creationId xmlns:a16="http://schemas.microsoft.com/office/drawing/2014/main" id="{4186C22B-F520-517C-A9D0-F8767E678639}"/>
              </a:ext>
            </a:extLst>
          </p:cNvPr>
          <p:cNvSpPr>
            <a:spLocks noGrp="1"/>
          </p:cNvSpPr>
          <p:nvPr>
            <p:ph idx="1"/>
          </p:nvPr>
        </p:nvSpPr>
        <p:spPr/>
        <p:txBody>
          <a:bodyPr/>
          <a:lstStyle/>
          <a:p>
            <a:r>
              <a:rPr lang="en-US" sz="2400" b="1" dirty="0">
                <a:latin typeface="Times New Roman" pitchFamily="18" charset="0"/>
                <a:cs typeface="Times New Roman" pitchFamily="18" charset="0"/>
              </a:rPr>
              <a:t>Root Causes</a:t>
            </a:r>
            <a:endParaRPr lang="en-US" sz="2400" dirty="0">
              <a:latin typeface="Times New Roman" pitchFamily="18" charset="0"/>
              <a:cs typeface="Times New Roman" pitchFamily="18" charset="0"/>
            </a:endParaRPr>
          </a:p>
          <a:p>
            <a:pPr marL="457200" indent="-457200">
              <a:buAutoNum type="arabicPeriod"/>
            </a:pPr>
            <a:r>
              <a:rPr lang="en-US" sz="2400" b="1" dirty="0">
                <a:solidFill>
                  <a:schemeClr val="accent6">
                    <a:lumMod val="50000"/>
                  </a:schemeClr>
                </a:solidFill>
                <a:latin typeface="Times New Roman" pitchFamily="18" charset="0"/>
                <a:cs typeface="Times New Roman" pitchFamily="18" charset="0"/>
              </a:rPr>
              <a:t>Service Delivery: Workloads and Staffing Shortages</a:t>
            </a:r>
          </a:p>
          <a:p>
            <a:pPr marL="0" indent="0">
              <a:buNone/>
            </a:pPr>
            <a:r>
              <a:rPr lang="en-US" sz="2400" i="1" dirty="0">
                <a:solidFill>
                  <a:srgbClr val="FF0000"/>
                </a:solidFill>
                <a:latin typeface="Times New Roman" pitchFamily="18" charset="0"/>
                <a:cs typeface="Times New Roman" pitchFamily="18" charset="0"/>
              </a:rPr>
              <a:t>"When the workload is too high, we tend to rush through prescriptions, and that’s where mistakes happen." (P7).</a:t>
            </a:r>
          </a:p>
          <a:p>
            <a:pPr marL="0" indent="0">
              <a:buNone/>
            </a:pPr>
            <a:r>
              <a:rPr lang="en-US" sz="2400" i="1" dirty="0">
                <a:solidFill>
                  <a:srgbClr val="FF0000"/>
                </a:solidFill>
                <a:latin typeface="Times New Roman" pitchFamily="18" charset="0"/>
                <a:cs typeface="Times New Roman" pitchFamily="18" charset="0"/>
              </a:rPr>
              <a:t>"With 100+ patients daily, thorough checks become impossible by afternoon" (P7).</a:t>
            </a:r>
          </a:p>
          <a:p>
            <a:pPr marL="0" indent="0">
              <a:buNone/>
            </a:pPr>
            <a:endParaRPr lang="en-US" sz="2400" i="1" dirty="0">
              <a:solidFill>
                <a:srgbClr val="FF0000"/>
              </a:solidFill>
              <a:latin typeface="Times New Roman" pitchFamily="18" charset="0"/>
              <a:cs typeface="Times New Roman" pitchFamily="18" charset="0"/>
            </a:endParaRPr>
          </a:p>
          <a:p>
            <a:pPr marL="0" indent="0">
              <a:buNone/>
            </a:pPr>
            <a:r>
              <a:rPr lang="en-US" sz="2000" b="1" i="1" dirty="0">
                <a:solidFill>
                  <a:schemeClr val="accent6">
                    <a:lumMod val="50000"/>
                  </a:schemeClr>
                </a:solidFill>
                <a:latin typeface="Times New Roman" pitchFamily="18" charset="0"/>
                <a:cs typeface="Times New Roman" pitchFamily="18" charset="0"/>
              </a:rPr>
              <a:t>2. </a:t>
            </a:r>
            <a:r>
              <a:rPr lang="en-US" sz="2400" b="1" dirty="0">
                <a:solidFill>
                  <a:schemeClr val="accent6">
                    <a:lumMod val="50000"/>
                  </a:schemeClr>
                </a:solidFill>
                <a:latin typeface="Times New Roman" pitchFamily="18" charset="0"/>
                <a:cs typeface="Times New Roman" pitchFamily="18" charset="0"/>
              </a:rPr>
              <a:t>Health Commodities: look-alike drugs and poor labeling</a:t>
            </a:r>
          </a:p>
          <a:p>
            <a:pPr marL="0" indent="0">
              <a:buNone/>
            </a:pPr>
            <a:r>
              <a:rPr lang="en-US" sz="2400" i="1" dirty="0">
                <a:solidFill>
                  <a:srgbClr val="FF0000"/>
                </a:solidFill>
                <a:latin typeface="Times New Roman" pitchFamily="18" charset="0"/>
                <a:cs typeface="Times New Roman" pitchFamily="18" charset="0"/>
              </a:rPr>
              <a:t>"Some medication names resemble each other, and if you're not vigilant, you could mistakenly dispense the wrong one, especially when you're under pressure" (P4, Pharmacist, 8 years).</a:t>
            </a:r>
          </a:p>
          <a:p>
            <a:pPr marL="0" indent="0">
              <a:buNone/>
            </a:pP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6722EB6F-218C-9AE0-CEE7-2968DD8366E5}"/>
              </a:ext>
            </a:extLst>
          </p:cNvPr>
          <p:cNvSpPr>
            <a:spLocks noGrp="1"/>
          </p:cNvSpPr>
          <p:nvPr>
            <p:ph type="sldNum" sz="quarter" idx="12"/>
          </p:nvPr>
        </p:nvSpPr>
        <p:spPr/>
        <p:txBody>
          <a:bodyPr/>
          <a:lstStyle/>
          <a:p>
            <a:fld id="{F45D45EC-0DFD-44B6-8830-2C62377CF2F9}" type="slidenum">
              <a:rPr lang="en-US" smtClean="0"/>
              <a:pPr/>
              <a:t>12</a:t>
            </a:fld>
            <a:endParaRPr lang="en-US"/>
          </a:p>
        </p:txBody>
      </p:sp>
    </p:spTree>
    <p:extLst>
      <p:ext uri="{BB962C8B-B14F-4D97-AF65-F5344CB8AC3E}">
        <p14:creationId xmlns:p14="http://schemas.microsoft.com/office/powerpoint/2010/main" val="1689812804"/>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9D75A-C459-C6BD-803C-6D002E3A866C}"/>
              </a:ext>
            </a:extLst>
          </p:cNvPr>
          <p:cNvSpPr>
            <a:spLocks noGrp="1"/>
          </p:cNvSpPr>
          <p:nvPr>
            <p:ph type="title"/>
          </p:nvPr>
        </p:nvSpPr>
        <p:spPr/>
        <p:txBody>
          <a:bodyPr/>
          <a:lstStyle/>
          <a:p>
            <a:r>
              <a:rPr lang="en-US" b="1" dirty="0">
                <a:latin typeface="Times New Roman" pitchFamily="18" charset="0"/>
                <a:cs typeface="Times New Roman" pitchFamily="18" charset="0"/>
              </a:rPr>
              <a:t>Results- Systems Measures 2</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7AA37742-1360-D0BA-5FF7-6D63D2CDFA40}"/>
              </a:ext>
            </a:extLst>
          </p:cNvPr>
          <p:cNvSpPr>
            <a:spLocks noGrp="1"/>
          </p:cNvSpPr>
          <p:nvPr>
            <p:ph idx="1"/>
          </p:nvPr>
        </p:nvSpPr>
        <p:spPr/>
        <p:txBody>
          <a:bodyPr/>
          <a:lstStyle/>
          <a:p>
            <a:pPr marL="0" indent="0">
              <a:buNone/>
            </a:pPr>
            <a:r>
              <a:rPr lang="en-US" sz="2400" b="1" i="1" dirty="0">
                <a:solidFill>
                  <a:srgbClr val="000B22"/>
                </a:solidFill>
              </a:rPr>
              <a:t>3. </a:t>
            </a:r>
            <a:r>
              <a:rPr lang="en-US" sz="2400" b="1" i="1" dirty="0">
                <a:solidFill>
                  <a:srgbClr val="000B22"/>
                </a:solidFill>
                <a:latin typeface="Times New Roman" pitchFamily="18" charset="0"/>
                <a:cs typeface="Times New Roman" pitchFamily="18" charset="0"/>
              </a:rPr>
              <a:t>Health Information Systems: Hybrid Digital-Manual Workflows</a:t>
            </a:r>
          </a:p>
          <a:p>
            <a:pPr>
              <a:buFont typeface="Wingdings" panose="05000000000000000000" pitchFamily="2" charset="2"/>
              <a:buChar char="q"/>
            </a:pPr>
            <a:r>
              <a:rPr lang="en-US" sz="2400" dirty="0">
                <a:solidFill>
                  <a:srgbClr val="000B22"/>
                </a:solidFill>
                <a:latin typeface="Times New Roman" pitchFamily="18" charset="0"/>
                <a:cs typeface="Times New Roman" pitchFamily="18" charset="0"/>
              </a:rPr>
              <a:t>Introduces significant bottlenecks when technical failures occur. </a:t>
            </a:r>
          </a:p>
          <a:p>
            <a:pPr>
              <a:buFont typeface="Wingdings" panose="05000000000000000000" pitchFamily="2" charset="2"/>
              <a:buChar char="q"/>
            </a:pPr>
            <a:r>
              <a:rPr lang="en-US" sz="2400" dirty="0">
                <a:solidFill>
                  <a:srgbClr val="000B22"/>
                </a:solidFill>
                <a:latin typeface="Times New Roman" pitchFamily="18" charset="0"/>
                <a:cs typeface="Times New Roman" pitchFamily="18" charset="0"/>
              </a:rPr>
              <a:t>Adaptive tech use (paper backups).</a:t>
            </a:r>
          </a:p>
          <a:p>
            <a:pPr marL="0" indent="0">
              <a:buNone/>
            </a:pPr>
            <a:r>
              <a:rPr lang="en-US" sz="2400" i="1" dirty="0">
                <a:solidFill>
                  <a:srgbClr val="FF0000"/>
                </a:solidFill>
                <a:latin typeface="Times New Roman" pitchFamily="18" charset="0"/>
                <a:cs typeface="Times New Roman" pitchFamily="18" charset="0"/>
              </a:rPr>
              <a:t>“A medical officer remarked, "When LHIMS crashes, we revert to paper, and errors spike" (P19).</a:t>
            </a:r>
          </a:p>
          <a:p>
            <a:pPr marL="0" indent="0">
              <a:buNone/>
            </a:pPr>
            <a:r>
              <a:rPr lang="en-US" sz="2800" b="1" i="1" dirty="0">
                <a:solidFill>
                  <a:srgbClr val="000B22"/>
                </a:solidFill>
                <a:latin typeface="Times New Roman" pitchFamily="18" charset="0"/>
                <a:cs typeface="Times New Roman" pitchFamily="18" charset="0"/>
              </a:rPr>
              <a:t>4. Leadership</a:t>
            </a:r>
            <a:r>
              <a:rPr lang="en-US" sz="2400" b="1" i="1" dirty="0">
                <a:solidFill>
                  <a:srgbClr val="000B22"/>
                </a:solidFill>
                <a:latin typeface="Times New Roman" pitchFamily="18" charset="0"/>
                <a:cs typeface="Times New Roman" pitchFamily="18" charset="0"/>
              </a:rPr>
              <a:t>: Punitive Cultures</a:t>
            </a:r>
          </a:p>
          <a:p>
            <a:pPr>
              <a:buFont typeface="Wingdings" panose="05000000000000000000" pitchFamily="2" charset="2"/>
              <a:buChar char="q"/>
            </a:pPr>
            <a:r>
              <a:rPr lang="en-US" sz="2400" dirty="0">
                <a:solidFill>
                  <a:srgbClr val="000B22"/>
                </a:solidFill>
                <a:latin typeface="Times New Roman" pitchFamily="18" charset="0"/>
                <a:cs typeface="Times New Roman" pitchFamily="18" charset="0"/>
              </a:rPr>
              <a:t>The absence of safety in error reporting(peer safeguarding) prevents organizational learning from near-misses and minor errors.</a:t>
            </a:r>
          </a:p>
          <a:p>
            <a:pPr>
              <a:buFont typeface="Wingdings" panose="05000000000000000000" pitchFamily="2" charset="2"/>
              <a:buChar char="q"/>
            </a:pPr>
            <a:r>
              <a:rPr lang="en-US" sz="2400" dirty="0">
                <a:solidFill>
                  <a:srgbClr val="000B22"/>
                </a:solidFill>
                <a:latin typeface="Times New Roman" pitchFamily="18" charset="0"/>
                <a:cs typeface="Times New Roman" pitchFamily="18" charset="0"/>
              </a:rPr>
              <a:t>Routinely address errors informally rather than through formal channels</a:t>
            </a:r>
          </a:p>
          <a:p>
            <a:pPr marL="0" indent="0">
              <a:buNone/>
            </a:pPr>
            <a:endParaRPr lang="en-US" sz="2400" i="1" dirty="0">
              <a:solidFill>
                <a:srgbClr val="FF0000"/>
              </a:solidFill>
              <a:latin typeface="Times New Roman" panose="02020603050405020304" pitchFamily="18" charset="0"/>
              <a:cs typeface="Times New Roman" panose="02020603050405020304" pitchFamily="18" charset="0"/>
            </a:endParaRPr>
          </a:p>
          <a:p>
            <a:pPr lvl="1"/>
            <a:endParaRPr lang="en-US" sz="2400" dirty="0"/>
          </a:p>
          <a:p>
            <a:pPr marL="0" indent="0">
              <a:buNone/>
            </a:pP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0D8B419-6D2C-A121-1322-EA892B5D04D6}"/>
              </a:ext>
            </a:extLst>
          </p:cNvPr>
          <p:cNvSpPr>
            <a:spLocks noGrp="1"/>
          </p:cNvSpPr>
          <p:nvPr>
            <p:ph type="sldNum" sz="quarter" idx="12"/>
          </p:nvPr>
        </p:nvSpPr>
        <p:spPr/>
        <p:txBody>
          <a:bodyPr/>
          <a:lstStyle/>
          <a:p>
            <a:fld id="{F45D45EC-0DFD-44B6-8830-2C62377CF2F9}" type="slidenum">
              <a:rPr lang="en-US" smtClean="0"/>
              <a:pPr/>
              <a:t>13</a:t>
            </a:fld>
            <a:endParaRPr lang="en-US"/>
          </a:p>
        </p:txBody>
      </p:sp>
    </p:spTree>
    <p:extLst>
      <p:ext uri="{BB962C8B-B14F-4D97-AF65-F5344CB8AC3E}">
        <p14:creationId xmlns:p14="http://schemas.microsoft.com/office/powerpoint/2010/main" val="77368288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38373-20EB-C6C5-D29C-D95217BDAE59}"/>
              </a:ext>
            </a:extLst>
          </p:cNvPr>
          <p:cNvSpPr>
            <a:spLocks noGrp="1"/>
          </p:cNvSpPr>
          <p:nvPr>
            <p:ph type="title"/>
          </p:nvPr>
        </p:nvSpPr>
        <p:spPr/>
        <p:txBody>
          <a:bodyPr/>
          <a:lstStyle/>
          <a:p>
            <a:br>
              <a:rPr lang="en-US" b="1" dirty="0"/>
            </a:br>
            <a:r>
              <a:rPr lang="en-US" b="1" dirty="0">
                <a:latin typeface="Times New Roman" pitchFamily="18" charset="0"/>
                <a:cs typeface="Times New Roman" pitchFamily="18" charset="0"/>
              </a:rPr>
              <a:t>Current Medication Safety Interventions &amp; Strategies in the Eastern Region</a:t>
            </a:r>
            <a:br>
              <a:rPr lang="en-US" dirty="0"/>
            </a:br>
            <a:endParaRPr lang="en-US" dirty="0"/>
          </a:p>
        </p:txBody>
      </p:sp>
      <p:sp>
        <p:nvSpPr>
          <p:cNvPr id="4" name="Slide Number Placeholder 3">
            <a:extLst>
              <a:ext uri="{FF2B5EF4-FFF2-40B4-BE49-F238E27FC236}">
                <a16:creationId xmlns:a16="http://schemas.microsoft.com/office/drawing/2014/main" id="{C25023AA-E6BB-D02D-02CB-0AF5367B26D8}"/>
              </a:ext>
            </a:extLst>
          </p:cNvPr>
          <p:cNvSpPr>
            <a:spLocks noGrp="1"/>
          </p:cNvSpPr>
          <p:nvPr>
            <p:ph type="sldNum" sz="quarter" idx="12"/>
          </p:nvPr>
        </p:nvSpPr>
        <p:spPr/>
        <p:txBody>
          <a:bodyPr/>
          <a:lstStyle/>
          <a:p>
            <a:fld id="{F45D45EC-0DFD-44B6-8830-2C62377CF2F9}" type="slidenum">
              <a:rPr lang="en-US" smtClean="0"/>
              <a:pPr/>
              <a:t>14</a:t>
            </a:fld>
            <a:endParaRPr lang="en-US"/>
          </a:p>
        </p:txBody>
      </p:sp>
      <p:pic>
        <p:nvPicPr>
          <p:cNvPr id="5" name="Content Placeholder 4"/>
          <p:cNvPicPr>
            <a:picLocks noGrp="1"/>
          </p:cNvPicPr>
          <p:nvPr>
            <p:ph idx="1"/>
          </p:nvPr>
        </p:nvPicPr>
        <p:blipFill>
          <a:blip r:embed="rId2"/>
          <a:srcRect/>
          <a:stretch>
            <a:fillRect/>
          </a:stretch>
        </p:blipFill>
        <p:spPr bwMode="auto">
          <a:xfrm>
            <a:off x="-47734" y="1429966"/>
            <a:ext cx="12192000" cy="4942086"/>
          </a:xfrm>
          <a:prstGeom prst="rect">
            <a:avLst/>
          </a:prstGeom>
          <a:solidFill>
            <a:schemeClr val="accent2">
              <a:lumMod val="40000"/>
              <a:lumOff val="60000"/>
            </a:schemeClr>
          </a:solidFill>
          <a:ln w="9525">
            <a:noFill/>
            <a:miter lim="800000"/>
            <a:headEnd/>
            <a:tailEnd/>
          </a:ln>
        </p:spPr>
      </p:pic>
    </p:spTree>
    <p:extLst>
      <p:ext uri="{BB962C8B-B14F-4D97-AF65-F5344CB8AC3E}">
        <p14:creationId xmlns:p14="http://schemas.microsoft.com/office/powerpoint/2010/main" val="288609672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6B42-D79C-D8AF-DC4D-FEB62F6F9A58}"/>
              </a:ext>
            </a:extLst>
          </p:cNvPr>
          <p:cNvSpPr>
            <a:spLocks noGrp="1"/>
          </p:cNvSpPr>
          <p:nvPr>
            <p:ph type="title"/>
          </p:nvPr>
        </p:nvSpPr>
        <p:spPr/>
        <p:txBody>
          <a:bodyPr/>
          <a:lstStyle/>
          <a:p>
            <a:br>
              <a:rPr lang="en-US" b="1" dirty="0"/>
            </a:br>
            <a:r>
              <a:rPr lang="en-US" b="1" dirty="0">
                <a:latin typeface="Times New Roman" pitchFamily="18" charset="0"/>
                <a:cs typeface="Times New Roman" pitchFamily="18" charset="0"/>
              </a:rPr>
              <a:t>Recommendations</a:t>
            </a:r>
            <a:br>
              <a:rPr lang="en-US" dirty="0"/>
            </a:br>
            <a:endParaRPr lang="en-US" dirty="0"/>
          </a:p>
        </p:txBody>
      </p:sp>
      <p:sp>
        <p:nvSpPr>
          <p:cNvPr id="4" name="Slide Number Placeholder 3">
            <a:extLst>
              <a:ext uri="{FF2B5EF4-FFF2-40B4-BE49-F238E27FC236}">
                <a16:creationId xmlns:a16="http://schemas.microsoft.com/office/drawing/2014/main" id="{7A9496F6-28A0-2B2B-98E9-E7FE99C11143}"/>
              </a:ext>
            </a:extLst>
          </p:cNvPr>
          <p:cNvSpPr>
            <a:spLocks noGrp="1"/>
          </p:cNvSpPr>
          <p:nvPr>
            <p:ph type="sldNum" sz="quarter" idx="12"/>
          </p:nvPr>
        </p:nvSpPr>
        <p:spPr/>
        <p:txBody>
          <a:bodyPr/>
          <a:lstStyle/>
          <a:p>
            <a:fld id="{F45D45EC-0DFD-44B6-8830-2C62377CF2F9}" type="slidenum">
              <a:rPr lang="en-US" smtClean="0"/>
              <a:pPr/>
              <a:t>15</a:t>
            </a:fld>
            <a:endParaRPr lang="en-US"/>
          </a:p>
        </p:txBody>
      </p:sp>
      <p:sp>
        <p:nvSpPr>
          <p:cNvPr id="26" name="TextBox 25">
            <a:extLst>
              <a:ext uri="{FF2B5EF4-FFF2-40B4-BE49-F238E27FC236}">
                <a16:creationId xmlns:a16="http://schemas.microsoft.com/office/drawing/2014/main" id="{61C05252-9F0A-3DDC-CD2D-6EE715FFEF7D}"/>
              </a:ext>
            </a:extLst>
          </p:cNvPr>
          <p:cNvSpPr txBox="1"/>
          <p:nvPr/>
        </p:nvSpPr>
        <p:spPr>
          <a:xfrm>
            <a:off x="104161" y="1409079"/>
            <a:ext cx="11983678" cy="5663089"/>
          </a:xfrm>
          <a:prstGeom prst="rect">
            <a:avLst/>
          </a:prstGeom>
          <a:noFill/>
        </p:spPr>
        <p:txBody>
          <a:bodyPr wrap="square">
            <a:spAutoFit/>
          </a:bodyPr>
          <a:lstStyle/>
          <a:p>
            <a:r>
              <a:rPr lang="en-US" sz="2000" b="1" dirty="0">
                <a:solidFill>
                  <a:srgbClr val="000B22"/>
                </a:solidFill>
                <a:latin typeface="Times New Roman" pitchFamily="18" charset="0"/>
                <a:cs typeface="Times New Roman" pitchFamily="18" charset="0"/>
              </a:rPr>
              <a:t>Immediate (0–6 months):</a:t>
            </a:r>
          </a:p>
          <a:p>
            <a:pPr marL="285750" indent="-285750">
              <a:buFont typeface="Arial" panose="020B0604020202020204" pitchFamily="34" charset="0"/>
              <a:buChar char="•"/>
            </a:pPr>
            <a:r>
              <a:rPr lang="en-US" sz="2000" dirty="0">
                <a:solidFill>
                  <a:srgbClr val="000B22"/>
                </a:solidFill>
                <a:latin typeface="Times New Roman" pitchFamily="18" charset="0"/>
                <a:cs typeface="Times New Roman" pitchFamily="18" charset="0"/>
              </a:rPr>
              <a:t>Strengthen  SBAR (Situation, Background, Assessment, Recommendation) communication protocols</a:t>
            </a:r>
          </a:p>
          <a:p>
            <a:pPr marL="285750" indent="-285750">
              <a:buFont typeface="Arial" panose="020B0604020202020204" pitchFamily="34" charset="0"/>
              <a:buChar char="•"/>
            </a:pPr>
            <a:r>
              <a:rPr lang="en-US" sz="2000" dirty="0">
                <a:solidFill>
                  <a:srgbClr val="000B22"/>
                </a:solidFill>
                <a:latin typeface="Times New Roman" pitchFamily="18" charset="0"/>
                <a:cs typeface="Times New Roman" pitchFamily="18" charset="0"/>
              </a:rPr>
              <a:t> Incorporate peer validation and structured checklists to reduce dispensing errors ( high-risk medications).</a:t>
            </a:r>
          </a:p>
          <a:p>
            <a:pPr marL="285750" indent="-285750">
              <a:buFont typeface="Arial" panose="020B0604020202020204" pitchFamily="34" charset="0"/>
              <a:buChar char="•"/>
            </a:pPr>
            <a:r>
              <a:rPr lang="en-US" sz="2000" dirty="0">
                <a:solidFill>
                  <a:srgbClr val="000B22"/>
                </a:solidFill>
                <a:latin typeface="Times New Roman" pitchFamily="18" charset="0"/>
                <a:cs typeface="Times New Roman" pitchFamily="18" charset="0"/>
              </a:rPr>
              <a:t> Use </a:t>
            </a:r>
            <a:r>
              <a:rPr lang="en-US" sz="2000" b="1" dirty="0">
                <a:solidFill>
                  <a:srgbClr val="000B22"/>
                </a:solidFill>
                <a:latin typeface="Times New Roman" pitchFamily="18" charset="0"/>
                <a:cs typeface="Times New Roman" pitchFamily="18" charset="0"/>
              </a:rPr>
              <a:t>Tall-man lettering </a:t>
            </a:r>
            <a:r>
              <a:rPr lang="en-US" sz="2000" dirty="0">
                <a:solidFill>
                  <a:srgbClr val="000B22"/>
                </a:solidFill>
                <a:latin typeface="Times New Roman" pitchFamily="18" charset="0"/>
                <a:cs typeface="Times New Roman" pitchFamily="18" charset="0"/>
              </a:rPr>
              <a:t>for Look-Alike/Sound-Alike Drug Names. e.g. </a:t>
            </a:r>
            <a:r>
              <a:rPr lang="en-US" sz="2000" dirty="0" err="1">
                <a:solidFill>
                  <a:srgbClr val="FF0000"/>
                </a:solidFill>
                <a:latin typeface="Times New Roman" pitchFamily="18" charset="0"/>
                <a:cs typeface="Times New Roman" pitchFamily="18" charset="0"/>
              </a:rPr>
              <a:t>predniSONE</a:t>
            </a:r>
            <a:r>
              <a:rPr lang="en-US" sz="2000" dirty="0">
                <a:solidFill>
                  <a:srgbClr val="FF0000"/>
                </a:solidFill>
                <a:latin typeface="Times New Roman" pitchFamily="18" charset="0"/>
                <a:cs typeface="Times New Roman" pitchFamily="18" charset="0"/>
              </a:rPr>
              <a:t> vs. </a:t>
            </a:r>
            <a:r>
              <a:rPr lang="en-US" sz="2000" dirty="0" err="1">
                <a:solidFill>
                  <a:srgbClr val="FF0000"/>
                </a:solidFill>
                <a:latin typeface="Times New Roman" pitchFamily="18" charset="0"/>
                <a:cs typeface="Times New Roman" pitchFamily="18" charset="0"/>
              </a:rPr>
              <a:t>prednisoLONE</a:t>
            </a:r>
            <a:endParaRPr lang="en-US" sz="2000" dirty="0">
              <a:solidFill>
                <a:srgbClr val="FF0000"/>
              </a:solidFill>
              <a:latin typeface="Times New Roman" pitchFamily="18" charset="0"/>
              <a:cs typeface="Times New Roman" pitchFamily="18" charset="0"/>
            </a:endParaRPr>
          </a:p>
          <a:p>
            <a:endParaRPr lang="en-US" sz="1200" dirty="0">
              <a:solidFill>
                <a:srgbClr val="000B22"/>
              </a:solidFill>
              <a:latin typeface="Times New Roman" pitchFamily="18" charset="0"/>
              <a:cs typeface="Times New Roman" pitchFamily="18" charset="0"/>
            </a:endParaRPr>
          </a:p>
          <a:p>
            <a:r>
              <a:rPr lang="en-US" sz="2000" b="1" dirty="0">
                <a:solidFill>
                  <a:srgbClr val="000B22"/>
                </a:solidFill>
                <a:latin typeface="Times New Roman" pitchFamily="18" charset="0"/>
                <a:cs typeface="Times New Roman" pitchFamily="18" charset="0"/>
              </a:rPr>
              <a:t>Short-Term (6–18 months):</a:t>
            </a:r>
          </a:p>
          <a:p>
            <a:pPr marL="285750" indent="-285750">
              <a:buFont typeface="Arial" panose="020B0604020202020204" pitchFamily="34" charset="0"/>
              <a:buChar char="•"/>
            </a:pPr>
            <a:r>
              <a:rPr lang="en-US" dirty="0">
                <a:solidFill>
                  <a:srgbClr val="000B22"/>
                </a:solidFill>
                <a:latin typeface="Times New Roman" pitchFamily="18" charset="0"/>
                <a:cs typeface="Times New Roman" pitchFamily="18" charset="0"/>
              </a:rPr>
              <a:t>Train facility leadership in Just Culture principles to foster a blame-free environment that encourages error reporting and learning.  </a:t>
            </a:r>
          </a:p>
          <a:p>
            <a:pPr marL="285750" indent="-285750">
              <a:buFont typeface="Arial" panose="020B0604020202020204" pitchFamily="34" charset="0"/>
              <a:buChar char="•"/>
            </a:pPr>
            <a:r>
              <a:rPr lang="en-US" dirty="0">
                <a:solidFill>
                  <a:srgbClr val="000B22"/>
                </a:solidFill>
                <a:latin typeface="Times New Roman" pitchFamily="18" charset="0"/>
                <a:cs typeface="Times New Roman" pitchFamily="18" charset="0"/>
              </a:rPr>
              <a:t>Strengthen and scale up anonymous, mobile-based error reporting systems to encourage incident documentation without fear of punitive repercussions.  </a:t>
            </a:r>
          </a:p>
          <a:p>
            <a:pPr marL="285750" indent="-285750">
              <a:buFont typeface="Arial" panose="020B0604020202020204" pitchFamily="34" charset="0"/>
              <a:buChar char="•"/>
            </a:pPr>
            <a:r>
              <a:rPr lang="en-US" dirty="0">
                <a:solidFill>
                  <a:srgbClr val="000B22"/>
                </a:solidFill>
                <a:latin typeface="Times New Roman" pitchFamily="18" charset="0"/>
                <a:cs typeface="Times New Roman" pitchFamily="18" charset="0"/>
              </a:rPr>
              <a:t>Develop and implement context-appropriate medication reconciliation protocols </a:t>
            </a:r>
          </a:p>
          <a:p>
            <a:endParaRPr lang="en-US" sz="1000" dirty="0">
              <a:solidFill>
                <a:srgbClr val="000B22"/>
              </a:solidFill>
              <a:latin typeface="Times New Roman" pitchFamily="18" charset="0"/>
              <a:cs typeface="Times New Roman" pitchFamily="18" charset="0"/>
            </a:endParaRPr>
          </a:p>
          <a:p>
            <a:r>
              <a:rPr lang="en-US" sz="1000" dirty="0">
                <a:solidFill>
                  <a:srgbClr val="000B22"/>
                </a:solidFill>
                <a:latin typeface="Times New Roman" pitchFamily="18" charset="0"/>
                <a:cs typeface="Times New Roman" pitchFamily="18" charset="0"/>
              </a:rPr>
              <a:t> </a:t>
            </a:r>
          </a:p>
          <a:p>
            <a:r>
              <a:rPr lang="en-US" sz="2000" b="1" dirty="0">
                <a:solidFill>
                  <a:srgbClr val="000B22"/>
                </a:solidFill>
                <a:latin typeface="Times New Roman" pitchFamily="18" charset="0"/>
                <a:cs typeface="Times New Roman" pitchFamily="18" charset="0"/>
              </a:rPr>
              <a:t>Long-Term (18–36 months):</a:t>
            </a:r>
          </a:p>
          <a:p>
            <a:endParaRPr lang="en-US" sz="1000" dirty="0">
              <a:solidFill>
                <a:srgbClr val="000B22"/>
              </a:solidFill>
              <a:latin typeface="Times New Roman" pitchFamily="18" charset="0"/>
              <a:cs typeface="Times New Roman" pitchFamily="18" charset="0"/>
            </a:endParaRPr>
          </a:p>
          <a:p>
            <a:pPr marL="285750" lvl="0" indent="-285750">
              <a:buFont typeface="Arial" panose="020B0604020202020204" pitchFamily="34" charset="0"/>
              <a:buChar char="•"/>
            </a:pPr>
            <a:r>
              <a:rPr lang="en-US" dirty="0">
                <a:solidFill>
                  <a:srgbClr val="000B22"/>
                </a:solidFill>
                <a:latin typeface="Times New Roman" pitchFamily="18" charset="0"/>
                <a:cs typeface="Times New Roman" pitchFamily="18" charset="0"/>
              </a:rPr>
              <a:t>Expand the clinical roles of pharmacists in error detection, reporting, and patient safety leadership across all healthcare levels.  </a:t>
            </a:r>
          </a:p>
          <a:p>
            <a:pPr marL="285750" lvl="0" indent="-285750">
              <a:buFont typeface="Arial" panose="020B0604020202020204" pitchFamily="34" charset="0"/>
              <a:buChar char="•"/>
            </a:pPr>
            <a:r>
              <a:rPr lang="en-US" dirty="0">
                <a:solidFill>
                  <a:srgbClr val="000B22"/>
                </a:solidFill>
                <a:latin typeface="Times New Roman" pitchFamily="18" charset="0"/>
                <a:cs typeface="Times New Roman" pitchFamily="18" charset="0"/>
              </a:rPr>
              <a:t>Pilot barcode-assisted medication administration (BCMA) in selected tertiary facilities.</a:t>
            </a:r>
          </a:p>
          <a:p>
            <a:endParaRPr lang="en-US" sz="2000" dirty="0">
              <a:solidFill>
                <a:srgbClr val="000510"/>
              </a:solidFill>
            </a:endParaRPr>
          </a:p>
          <a:p>
            <a:endParaRPr lang="en-US" dirty="0">
              <a:solidFill>
                <a:srgbClr val="000510"/>
              </a:solidFill>
            </a:endParaRPr>
          </a:p>
          <a:p>
            <a:endParaRPr lang="en-US" dirty="0">
              <a:solidFill>
                <a:srgbClr val="000510"/>
              </a:solidFill>
            </a:endParaRPr>
          </a:p>
        </p:txBody>
      </p:sp>
    </p:spTree>
    <p:extLst>
      <p:ext uri="{BB962C8B-B14F-4D97-AF65-F5344CB8AC3E}">
        <p14:creationId xmlns:p14="http://schemas.microsoft.com/office/powerpoint/2010/main" val="1716457609"/>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A4607-2611-EA6A-04A3-6CAFD9296BAF}"/>
              </a:ext>
            </a:extLst>
          </p:cNvPr>
          <p:cNvSpPr>
            <a:spLocks noGrp="1"/>
          </p:cNvSpPr>
          <p:nvPr>
            <p:ph type="title"/>
          </p:nvPr>
        </p:nvSpPr>
        <p:spPr/>
        <p:txBody>
          <a:bodyPr/>
          <a:lstStyle/>
          <a:p>
            <a:br>
              <a:rPr lang="en-US" b="1" dirty="0"/>
            </a:br>
            <a:r>
              <a:rPr lang="en-US" b="1" dirty="0">
                <a:latin typeface="Times New Roman" pitchFamily="18" charset="0"/>
                <a:cs typeface="Times New Roman" pitchFamily="18" charset="0"/>
              </a:rPr>
              <a:t>Conclusion</a:t>
            </a:r>
            <a:br>
              <a:rPr lang="en-US" dirty="0"/>
            </a:br>
            <a:endParaRPr lang="en-US" dirty="0"/>
          </a:p>
        </p:txBody>
      </p:sp>
      <p:sp>
        <p:nvSpPr>
          <p:cNvPr id="3" name="Content Placeholder 2">
            <a:extLst>
              <a:ext uri="{FF2B5EF4-FFF2-40B4-BE49-F238E27FC236}">
                <a16:creationId xmlns:a16="http://schemas.microsoft.com/office/drawing/2014/main" id="{C560FF3A-12ED-7D46-F58C-CC67C715B99A}"/>
              </a:ext>
            </a:extLst>
          </p:cNvPr>
          <p:cNvSpPr>
            <a:spLocks noGrp="1"/>
          </p:cNvSpPr>
          <p:nvPr>
            <p:ph idx="1"/>
          </p:nvPr>
        </p:nvSpPr>
        <p:spPr/>
        <p:txBody>
          <a:bodyPr/>
          <a:lstStyle/>
          <a:p>
            <a:pPr lvl="1">
              <a:lnSpc>
                <a:spcPct val="150000"/>
              </a:lnSpc>
              <a:buFont typeface="Arial" panose="020B0604020202020204" pitchFamily="34" charset="0"/>
              <a:buChar char="•"/>
            </a:pPr>
            <a:r>
              <a:rPr lang="en-US" dirty="0">
                <a:solidFill>
                  <a:srgbClr val="000B22"/>
                </a:solidFill>
                <a:latin typeface="Times New Roman" pitchFamily="18" charset="0"/>
                <a:cs typeface="Times New Roman" pitchFamily="18" charset="0"/>
              </a:rPr>
              <a:t>Hybrid systems improved legibility but introduced delays making the error detection reactive rather than preventive.</a:t>
            </a:r>
          </a:p>
          <a:p>
            <a:pPr lvl="1">
              <a:lnSpc>
                <a:spcPct val="150000"/>
              </a:lnSpc>
              <a:buFont typeface="Arial" panose="020B0604020202020204" pitchFamily="34" charset="0"/>
              <a:buChar char="•"/>
            </a:pPr>
            <a:r>
              <a:rPr lang="en-US" dirty="0">
                <a:solidFill>
                  <a:srgbClr val="000B22"/>
                </a:solidFill>
                <a:latin typeface="Times New Roman" pitchFamily="18" charset="0"/>
                <a:cs typeface="Times New Roman" pitchFamily="18" charset="0"/>
              </a:rPr>
              <a:t>Fear of blame and weak reporting structures discourage open communication and learning  from errors.</a:t>
            </a:r>
          </a:p>
          <a:p>
            <a:pPr lvl="1">
              <a:lnSpc>
                <a:spcPct val="150000"/>
              </a:lnSpc>
              <a:buFont typeface="Arial" panose="020B0604020202020204" pitchFamily="34" charset="0"/>
              <a:buChar char="•"/>
            </a:pPr>
            <a:r>
              <a:rPr lang="en-US" dirty="0">
                <a:solidFill>
                  <a:srgbClr val="000B22"/>
                </a:solidFill>
                <a:latin typeface="Times New Roman" pitchFamily="18" charset="0"/>
                <a:cs typeface="Times New Roman" pitchFamily="18" charset="0"/>
              </a:rPr>
              <a:t>High workloads and similar-looking medications increase error risks, highlighting the  need  for staffing support and better labelling.</a:t>
            </a:r>
          </a:p>
          <a:p>
            <a:pPr marL="0" indent="0">
              <a:buNone/>
            </a:pPr>
            <a:endParaRPr lang="en-US" dirty="0"/>
          </a:p>
        </p:txBody>
      </p:sp>
      <p:sp>
        <p:nvSpPr>
          <p:cNvPr id="4" name="Slide Number Placeholder 3">
            <a:extLst>
              <a:ext uri="{FF2B5EF4-FFF2-40B4-BE49-F238E27FC236}">
                <a16:creationId xmlns:a16="http://schemas.microsoft.com/office/drawing/2014/main" id="{B6FCA760-0C78-E70F-2F57-765DEA47C44A}"/>
              </a:ext>
            </a:extLst>
          </p:cNvPr>
          <p:cNvSpPr>
            <a:spLocks noGrp="1"/>
          </p:cNvSpPr>
          <p:nvPr>
            <p:ph type="sldNum" sz="quarter" idx="12"/>
          </p:nvPr>
        </p:nvSpPr>
        <p:spPr/>
        <p:txBody>
          <a:bodyPr/>
          <a:lstStyle/>
          <a:p>
            <a:fld id="{F45D45EC-0DFD-44B6-8830-2C62377CF2F9}" type="slidenum">
              <a:rPr lang="en-US" smtClean="0"/>
              <a:pPr/>
              <a:t>16</a:t>
            </a:fld>
            <a:endParaRPr lang="en-US"/>
          </a:p>
        </p:txBody>
      </p:sp>
    </p:spTree>
    <p:extLst>
      <p:ext uri="{BB962C8B-B14F-4D97-AF65-F5344CB8AC3E}">
        <p14:creationId xmlns:p14="http://schemas.microsoft.com/office/powerpoint/2010/main" val="2986637348"/>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E177E-4338-5E2E-9D38-809C60DF8CDA}"/>
              </a:ext>
            </a:extLst>
          </p:cNvPr>
          <p:cNvSpPr>
            <a:spLocks noGrp="1"/>
          </p:cNvSpPr>
          <p:nvPr>
            <p:ph type="title"/>
          </p:nvPr>
        </p:nvSpPr>
        <p:spPr/>
        <p:txBody>
          <a:bodyPr/>
          <a:lstStyle/>
          <a:p>
            <a:r>
              <a:rPr lang="en-US" altLang="en-US" b="1" dirty="0">
                <a:latin typeface="Times New Roman" pitchFamily="18" charset="0"/>
                <a:cs typeface="Times New Roman" pitchFamily="18" charset="0"/>
              </a:rPr>
              <a:t>Acknowledgements</a:t>
            </a:r>
            <a:endParaRPr lang="en-US"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70A62393-E061-1254-1C40-54A3C467F3E5}"/>
              </a:ext>
            </a:extLst>
          </p:cNvPr>
          <p:cNvSpPr>
            <a:spLocks noGrp="1"/>
          </p:cNvSpPr>
          <p:nvPr>
            <p:ph idx="1"/>
          </p:nvPr>
        </p:nvSpPr>
        <p:spPr/>
        <p:txBody>
          <a:bodyPr/>
          <a:lstStyle/>
          <a:p>
            <a:pPr>
              <a:lnSpc>
                <a:spcPct val="150000"/>
              </a:lnSpc>
            </a:pPr>
            <a:r>
              <a:rPr lang="en-US" dirty="0">
                <a:solidFill>
                  <a:srgbClr val="000B22"/>
                </a:solidFill>
                <a:latin typeface="Times New Roman" pitchFamily="18" charset="0"/>
                <a:cs typeface="Times New Roman" pitchFamily="18" charset="0"/>
              </a:rPr>
              <a:t>Participants (Interviewed Healthcare staff) </a:t>
            </a:r>
          </a:p>
          <a:p>
            <a:pPr>
              <a:lnSpc>
                <a:spcPct val="150000"/>
              </a:lnSpc>
            </a:pPr>
            <a:r>
              <a:rPr lang="en-US" dirty="0">
                <a:solidFill>
                  <a:srgbClr val="000B22"/>
                </a:solidFill>
                <a:latin typeface="Times New Roman" pitchFamily="18" charset="0"/>
                <a:cs typeface="Times New Roman" pitchFamily="18" charset="0"/>
              </a:rPr>
              <a:t>Eastern Regional Health Directorate.</a:t>
            </a:r>
          </a:p>
          <a:p>
            <a:pPr>
              <a:lnSpc>
                <a:spcPct val="150000"/>
              </a:lnSpc>
            </a:pPr>
            <a:r>
              <a:rPr lang="en-US" dirty="0">
                <a:solidFill>
                  <a:srgbClr val="000B22"/>
                </a:solidFill>
                <a:latin typeface="Times New Roman" pitchFamily="18" charset="0"/>
                <a:cs typeface="Times New Roman" pitchFamily="18" charset="0"/>
              </a:rPr>
              <a:t>AJ HEALTH &amp; RESEARCH CONSULT</a:t>
            </a:r>
            <a:endParaRPr lang="en-US" dirty="0">
              <a:solidFill>
                <a:srgbClr val="000B22"/>
              </a:solidFill>
              <a:highlight>
                <a:srgbClr val="FFFF00"/>
              </a:highlight>
              <a:latin typeface="Times New Roman" pitchFamily="18" charset="0"/>
              <a:cs typeface="Times New Roman"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E073EFD-B140-D6AE-81C7-8E7020345898}"/>
              </a:ext>
            </a:extLst>
          </p:cNvPr>
          <p:cNvSpPr>
            <a:spLocks noGrp="1"/>
          </p:cNvSpPr>
          <p:nvPr>
            <p:ph type="sldNum" sz="quarter" idx="12"/>
          </p:nvPr>
        </p:nvSpPr>
        <p:spPr/>
        <p:txBody>
          <a:bodyPr/>
          <a:lstStyle/>
          <a:p>
            <a:fld id="{F45D45EC-0DFD-44B6-8830-2C62377CF2F9}" type="slidenum">
              <a:rPr lang="en-US" smtClean="0"/>
              <a:pPr/>
              <a:t>17</a:t>
            </a:fld>
            <a:endParaRPr lang="en-US"/>
          </a:p>
        </p:txBody>
      </p:sp>
      <p:pic>
        <p:nvPicPr>
          <p:cNvPr id="6" name="Picture 5">
            <a:extLst>
              <a:ext uri="{FF2B5EF4-FFF2-40B4-BE49-F238E27FC236}">
                <a16:creationId xmlns:a16="http://schemas.microsoft.com/office/drawing/2014/main" id="{A54738AE-6A0E-1607-9C9F-E50BE35796C3}"/>
              </a:ext>
            </a:extLst>
          </p:cNvPr>
          <p:cNvPicPr>
            <a:picLocks noChangeAspect="1"/>
          </p:cNvPicPr>
          <p:nvPr/>
        </p:nvPicPr>
        <p:blipFill>
          <a:blip r:embed="rId2"/>
          <a:stretch>
            <a:fillRect/>
          </a:stretch>
        </p:blipFill>
        <p:spPr>
          <a:xfrm>
            <a:off x="183043" y="4088743"/>
            <a:ext cx="1956482" cy="2012381"/>
          </a:xfrm>
          <a:prstGeom prst="rect">
            <a:avLst/>
          </a:prstGeom>
        </p:spPr>
      </p:pic>
      <p:pic>
        <p:nvPicPr>
          <p:cNvPr id="7" name="Picture 6">
            <a:extLst>
              <a:ext uri="{FF2B5EF4-FFF2-40B4-BE49-F238E27FC236}">
                <a16:creationId xmlns:a16="http://schemas.microsoft.com/office/drawing/2014/main" id="{5184735B-49E1-DF54-8B81-53BBFA587BBE}"/>
              </a:ext>
            </a:extLst>
          </p:cNvPr>
          <p:cNvPicPr>
            <a:picLocks noChangeAspect="1"/>
          </p:cNvPicPr>
          <p:nvPr/>
        </p:nvPicPr>
        <p:blipFill>
          <a:blip r:embed="rId3"/>
          <a:stretch>
            <a:fillRect/>
          </a:stretch>
        </p:blipFill>
        <p:spPr>
          <a:xfrm>
            <a:off x="8982915" y="3927422"/>
            <a:ext cx="2930577" cy="2173702"/>
          </a:xfrm>
          <a:prstGeom prst="rect">
            <a:avLst/>
          </a:prstGeom>
        </p:spPr>
      </p:pic>
    </p:spTree>
    <p:extLst>
      <p:ext uri="{BB962C8B-B14F-4D97-AF65-F5344CB8AC3E}">
        <p14:creationId xmlns:p14="http://schemas.microsoft.com/office/powerpoint/2010/main" val="2500223552"/>
      </p:ext>
    </p:extLst>
  </p:cSld>
  <p:clrMapOvr>
    <a:masterClrMapping/>
  </p:clrMapOvr>
  <p:transition spd="med">
    <p:fade/>
  </p:transition>
</p:sld>
</file>

<file path=ppt/theme/theme1.xml><?xml version="1.0" encoding="utf-8"?>
<a:theme xmlns:a="http://schemas.openxmlformats.org/drawingml/2006/main" name="Theme3">
  <a:themeElements>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1565</TotalTime>
  <Words>1046</Words>
  <Application>Microsoft Office PowerPoint</Application>
  <PresentationFormat>Widescreen</PresentationFormat>
  <Paragraphs>178</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Theme3</vt:lpstr>
      <vt:lpstr> Healthcare Providers' Strategies and Challenges in Managing Medication Errors in Eastern Region, Ghana;  A Qualitative Study on Interventions, Communication, and Safety Improvements  Title</vt:lpstr>
      <vt:lpstr>Outline</vt:lpstr>
      <vt:lpstr> Background </vt:lpstr>
      <vt:lpstr>Objectives </vt:lpstr>
      <vt:lpstr>The Reason’s Swiss-Cheese model framework</vt:lpstr>
      <vt:lpstr> Methods </vt:lpstr>
      <vt:lpstr>Questionnaire Pre-Test Site</vt:lpstr>
      <vt:lpstr>Sampled Districts</vt:lpstr>
      <vt:lpstr>RESULTS </vt:lpstr>
      <vt:lpstr> Results – Process Measures 1  </vt:lpstr>
      <vt:lpstr>Results - Process Measures 2</vt:lpstr>
      <vt:lpstr>Results- Systems Measures 1</vt:lpstr>
      <vt:lpstr>Results- Systems Measures 2</vt:lpstr>
      <vt:lpstr> Current Medication Safety Interventions &amp; Strategies in the Eastern Region </vt:lpstr>
      <vt:lpstr> Recommendations </vt:lpstr>
      <vt:lpstr> Conclusion </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Cirjorge</dc:creator>
  <cp:lastModifiedBy>840 G3</cp:lastModifiedBy>
  <cp:revision>65</cp:revision>
  <dcterms:created xsi:type="dcterms:W3CDTF">2016-07-05T09:41:50Z</dcterms:created>
  <dcterms:modified xsi:type="dcterms:W3CDTF">2025-08-05T08:49:03Z</dcterms:modified>
</cp:coreProperties>
</file>